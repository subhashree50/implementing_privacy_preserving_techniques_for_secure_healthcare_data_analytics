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imes New Roman Bold" charset="1" panose="02020803070505020304"/>
      <p:regular r:id="rId19"/>
    </p:embeddedFont>
    <p:embeddedFont>
      <p:font typeface="Times New Roman" charset="1" panose="02020603050405020304"/>
      <p:regular r:id="rId20"/>
    </p:embeddedFont>
    <p:embeddedFont>
      <p:font typeface="Arimo" charset="1" panose="020B06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91488" y="221933"/>
            <a:ext cx="2015614" cy="1659160"/>
            <a:chOff x="0" y="0"/>
            <a:chExt cx="2687485"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TextBox 4" id="4"/>
          <p:cNvSpPr txBox="true"/>
          <p:nvPr/>
        </p:nvSpPr>
        <p:spPr>
          <a:xfrm rot="0">
            <a:off x="2083451" y="9285903"/>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
        <p:nvSpPr>
          <p:cNvPr name="TextBox 5" id="5"/>
          <p:cNvSpPr txBox="true"/>
          <p:nvPr/>
        </p:nvSpPr>
        <p:spPr>
          <a:xfrm rot="0">
            <a:off x="1678723" y="4671222"/>
            <a:ext cx="3071936"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PRESENTED BY : </a:t>
            </a:r>
          </a:p>
        </p:txBody>
      </p:sp>
      <p:sp>
        <p:nvSpPr>
          <p:cNvPr name="TextBox 6" id="6"/>
          <p:cNvSpPr txBox="true"/>
          <p:nvPr/>
        </p:nvSpPr>
        <p:spPr>
          <a:xfrm rot="0">
            <a:off x="1678723" y="7579795"/>
            <a:ext cx="4126935" cy="408813"/>
          </a:xfrm>
          <a:prstGeom prst="rect">
            <a:avLst/>
          </a:prstGeom>
        </p:spPr>
        <p:txBody>
          <a:bodyPr anchor="t" rtlCol="false" tIns="0" lIns="0" bIns="0" rIns="0">
            <a:spAutoFit/>
          </a:bodyPr>
          <a:lstStyle/>
          <a:p>
            <a:pPr algn="l">
              <a:lnSpc>
                <a:spcPts val="3000"/>
              </a:lnSpc>
            </a:pPr>
            <a:r>
              <a:rPr lang="en-US" b="true" sz="2798">
                <a:solidFill>
                  <a:srgbClr val="000000"/>
                </a:solidFill>
                <a:latin typeface="Times New Roman Bold"/>
                <a:ea typeface="Times New Roman Bold"/>
                <a:cs typeface="Times New Roman Bold"/>
                <a:sym typeface="Times New Roman Bold"/>
              </a:rPr>
              <a:t>Department / Programme:</a:t>
            </a:r>
          </a:p>
        </p:txBody>
      </p:sp>
      <p:sp>
        <p:nvSpPr>
          <p:cNvPr name="TextBox 7" id="7"/>
          <p:cNvSpPr txBox="true"/>
          <p:nvPr/>
        </p:nvSpPr>
        <p:spPr>
          <a:xfrm rot="0">
            <a:off x="1678723" y="8295118"/>
            <a:ext cx="2466003" cy="416281"/>
          </a:xfrm>
          <a:prstGeom prst="rect">
            <a:avLst/>
          </a:prstGeom>
        </p:spPr>
        <p:txBody>
          <a:bodyPr anchor="t" rtlCol="false" tIns="0" lIns="0" bIns="0" rIns="0">
            <a:spAutoFit/>
          </a:bodyPr>
          <a:lstStyle/>
          <a:p>
            <a:pPr algn="l">
              <a:lnSpc>
                <a:spcPts val="3000"/>
              </a:lnSpc>
            </a:pPr>
            <a:r>
              <a:rPr lang="en-US" b="true" sz="2798">
                <a:solidFill>
                  <a:srgbClr val="000000"/>
                </a:solidFill>
                <a:latin typeface="Times New Roman Bold"/>
                <a:ea typeface="Times New Roman Bold"/>
                <a:cs typeface="Times New Roman Bold"/>
                <a:sym typeface="Times New Roman Bold"/>
              </a:rPr>
              <a:t>Semester/Year</a:t>
            </a:r>
            <a:r>
              <a:rPr lang="en-US" sz="2798">
                <a:solidFill>
                  <a:srgbClr val="000000"/>
                </a:solidFill>
                <a:latin typeface="Times New Roman"/>
                <a:ea typeface="Times New Roman"/>
                <a:cs typeface="Times New Roman"/>
                <a:sym typeface="Times New Roman"/>
              </a:rPr>
              <a:t> </a:t>
            </a:r>
          </a:p>
        </p:txBody>
      </p:sp>
      <p:sp>
        <p:nvSpPr>
          <p:cNvPr name="TextBox 8" id="8"/>
          <p:cNvSpPr txBox="true"/>
          <p:nvPr/>
        </p:nvSpPr>
        <p:spPr>
          <a:xfrm rot="0">
            <a:off x="7198957" y="9295428"/>
            <a:ext cx="3967829"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DEPARTMENT OF CSE</a:t>
            </a:r>
          </a:p>
        </p:txBody>
      </p:sp>
      <p:sp>
        <p:nvSpPr>
          <p:cNvPr name="TextBox 9" id="9"/>
          <p:cNvSpPr txBox="true"/>
          <p:nvPr/>
        </p:nvSpPr>
        <p:spPr>
          <a:xfrm rot="0">
            <a:off x="15337498" y="9270511"/>
            <a:ext cx="181289"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a:t>
            </a:r>
          </a:p>
        </p:txBody>
      </p:sp>
      <p:sp>
        <p:nvSpPr>
          <p:cNvPr name="TextBox 10" id="10"/>
          <p:cNvSpPr txBox="true"/>
          <p:nvPr/>
        </p:nvSpPr>
        <p:spPr>
          <a:xfrm rot="0">
            <a:off x="4774282" y="4547778"/>
            <a:ext cx="90649" cy="408813"/>
          </a:xfrm>
          <a:prstGeom prst="rect">
            <a:avLst/>
          </a:prstGeom>
        </p:spPr>
        <p:txBody>
          <a:bodyPr anchor="t" rtlCol="false" tIns="0" lIns="0" bIns="0" rIns="0">
            <a:spAutoFit/>
          </a:bodyPr>
          <a:lstStyle/>
          <a:p>
            <a:pPr algn="l">
              <a:lnSpc>
                <a:spcPts val="3000"/>
              </a:lnSpc>
            </a:pPr>
            <a:r>
              <a:rPr lang="en-US" sz="2798">
                <a:solidFill>
                  <a:srgbClr val="000000"/>
                </a:solidFill>
                <a:latin typeface="Times New Roman"/>
                <a:ea typeface="Times New Roman"/>
                <a:cs typeface="Times New Roman"/>
                <a:sym typeface="Times New Roman"/>
              </a:rPr>
              <a:t> </a:t>
            </a:r>
          </a:p>
        </p:txBody>
      </p:sp>
      <p:sp>
        <p:nvSpPr>
          <p:cNvPr name="TextBox 11" id="11"/>
          <p:cNvSpPr txBox="true"/>
          <p:nvPr/>
        </p:nvSpPr>
        <p:spPr>
          <a:xfrm rot="0">
            <a:off x="9273245" y="4928778"/>
            <a:ext cx="2255796" cy="408813"/>
          </a:xfrm>
          <a:prstGeom prst="rect">
            <a:avLst/>
          </a:prstGeom>
        </p:spPr>
        <p:txBody>
          <a:bodyPr anchor="t" rtlCol="false" tIns="0" lIns="0" bIns="0" rIns="0">
            <a:spAutoFit/>
          </a:bodyPr>
          <a:lstStyle/>
          <a:p>
            <a:pPr algn="l">
              <a:lnSpc>
                <a:spcPts val="3000"/>
              </a:lnSpc>
            </a:pPr>
            <a:r>
              <a:rPr lang="en-US" b="true" sz="2798">
                <a:solidFill>
                  <a:srgbClr val="000000"/>
                </a:solidFill>
                <a:latin typeface="Times New Roman Bold"/>
                <a:ea typeface="Times New Roman Bold"/>
                <a:cs typeface="Times New Roman Bold"/>
                <a:sym typeface="Times New Roman Bold"/>
              </a:rPr>
              <a:t>GUIDED BY :</a:t>
            </a:r>
          </a:p>
        </p:txBody>
      </p:sp>
      <p:sp>
        <p:nvSpPr>
          <p:cNvPr name="TextBox 12" id="12"/>
          <p:cNvSpPr txBox="true"/>
          <p:nvPr/>
        </p:nvSpPr>
        <p:spPr>
          <a:xfrm rot="0">
            <a:off x="6313618" y="4928778"/>
            <a:ext cx="90649" cy="408813"/>
          </a:xfrm>
          <a:prstGeom prst="rect">
            <a:avLst/>
          </a:prstGeom>
        </p:spPr>
        <p:txBody>
          <a:bodyPr anchor="t" rtlCol="false" tIns="0" lIns="0" bIns="0" rIns="0">
            <a:spAutoFit/>
          </a:bodyPr>
          <a:lstStyle/>
          <a:p>
            <a:pPr algn="l">
              <a:lnSpc>
                <a:spcPts val="3000"/>
              </a:lnSpc>
            </a:pPr>
            <a:r>
              <a:rPr lang="en-US" sz="2798">
                <a:solidFill>
                  <a:srgbClr val="000000"/>
                </a:solidFill>
                <a:latin typeface="Times New Roman"/>
                <a:ea typeface="Times New Roman"/>
                <a:cs typeface="Times New Roman"/>
                <a:sym typeface="Times New Roman"/>
              </a:rPr>
              <a:t> </a:t>
            </a:r>
          </a:p>
        </p:txBody>
      </p:sp>
      <p:sp>
        <p:nvSpPr>
          <p:cNvPr name="TextBox 13" id="13"/>
          <p:cNvSpPr txBox="true"/>
          <p:nvPr/>
        </p:nvSpPr>
        <p:spPr>
          <a:xfrm rot="0">
            <a:off x="2468428" y="5280441"/>
            <a:ext cx="4793009" cy="1908829"/>
          </a:xfrm>
          <a:prstGeom prst="rect">
            <a:avLst/>
          </a:prstGeom>
        </p:spPr>
        <p:txBody>
          <a:bodyPr anchor="t" rtlCol="false" tIns="0" lIns="0" bIns="0" rIns="0">
            <a:spAutoFit/>
          </a:bodyPr>
          <a:lstStyle/>
          <a:p>
            <a:pPr algn="l">
              <a:lnSpc>
                <a:spcPts val="3778"/>
              </a:lnSpc>
            </a:pPr>
            <a:r>
              <a:rPr lang="en-US" sz="2799">
                <a:solidFill>
                  <a:srgbClr val="000000"/>
                </a:solidFill>
                <a:latin typeface="Times New Roman"/>
                <a:ea typeface="Times New Roman"/>
                <a:cs typeface="Times New Roman"/>
                <a:sym typeface="Times New Roman"/>
              </a:rPr>
              <a:t>S.Anushma(923822104006)</a:t>
            </a:r>
          </a:p>
          <a:p>
            <a:pPr algn="l">
              <a:lnSpc>
                <a:spcPts val="3778"/>
              </a:lnSpc>
            </a:pPr>
            <a:r>
              <a:rPr lang="en-US" sz="2798">
                <a:solidFill>
                  <a:srgbClr val="000000"/>
                </a:solidFill>
                <a:latin typeface="Times New Roman"/>
                <a:ea typeface="Times New Roman"/>
                <a:cs typeface="Times New Roman"/>
                <a:sym typeface="Times New Roman"/>
              </a:rPr>
              <a:t>M.Sathya Jyothi(923822104043) M.Subhashree(923822104050) C.Swetha(923822104052)</a:t>
            </a:r>
          </a:p>
        </p:txBody>
      </p:sp>
      <p:sp>
        <p:nvSpPr>
          <p:cNvPr name="TextBox 14" id="14"/>
          <p:cNvSpPr txBox="true"/>
          <p:nvPr/>
        </p:nvSpPr>
        <p:spPr>
          <a:xfrm rot="0">
            <a:off x="6032616" y="7579795"/>
            <a:ext cx="1228820" cy="408813"/>
          </a:xfrm>
          <a:prstGeom prst="rect">
            <a:avLst/>
          </a:prstGeom>
        </p:spPr>
        <p:txBody>
          <a:bodyPr anchor="t" rtlCol="false" tIns="0" lIns="0" bIns="0" rIns="0">
            <a:spAutoFit/>
          </a:bodyPr>
          <a:lstStyle/>
          <a:p>
            <a:pPr algn="l">
              <a:lnSpc>
                <a:spcPts val="3000"/>
              </a:lnSpc>
            </a:pPr>
            <a:r>
              <a:rPr lang="en-US" sz="2798">
                <a:solidFill>
                  <a:srgbClr val="000000"/>
                </a:solidFill>
                <a:latin typeface="Times New Roman"/>
                <a:ea typeface="Times New Roman"/>
                <a:cs typeface="Times New Roman"/>
                <a:sym typeface="Times New Roman"/>
              </a:rPr>
              <a:t>CSE/BE</a:t>
            </a:r>
          </a:p>
        </p:txBody>
      </p:sp>
      <p:sp>
        <p:nvSpPr>
          <p:cNvPr name="TextBox 15" id="15"/>
          <p:cNvSpPr txBox="true"/>
          <p:nvPr/>
        </p:nvSpPr>
        <p:spPr>
          <a:xfrm rot="0">
            <a:off x="4066956" y="8302585"/>
            <a:ext cx="3132001" cy="408813"/>
          </a:xfrm>
          <a:prstGeom prst="rect">
            <a:avLst/>
          </a:prstGeom>
        </p:spPr>
        <p:txBody>
          <a:bodyPr anchor="t" rtlCol="false" tIns="0" lIns="0" bIns="0" rIns="0">
            <a:spAutoFit/>
          </a:bodyPr>
          <a:lstStyle/>
          <a:p>
            <a:pPr algn="l">
              <a:lnSpc>
                <a:spcPts val="3000"/>
              </a:lnSpc>
            </a:pPr>
            <a:r>
              <a:rPr lang="en-US" sz="2798">
                <a:solidFill>
                  <a:srgbClr val="000000"/>
                </a:solidFill>
                <a:latin typeface="Times New Roman"/>
                <a:ea typeface="Times New Roman"/>
                <a:cs typeface="Times New Roman"/>
                <a:sym typeface="Times New Roman"/>
              </a:rPr>
              <a:t>:</a:t>
            </a:r>
            <a:r>
              <a:rPr lang="en-US" sz="2798">
                <a:solidFill>
                  <a:srgbClr val="000000"/>
                </a:solidFill>
                <a:latin typeface="Times New Roman"/>
                <a:ea typeface="Times New Roman"/>
                <a:cs typeface="Times New Roman"/>
                <a:sym typeface="Times New Roman"/>
              </a:rPr>
              <a:t> </a:t>
            </a:r>
            <a:r>
              <a:rPr lang="en-US" sz="2798">
                <a:solidFill>
                  <a:srgbClr val="000000"/>
                </a:solidFill>
                <a:latin typeface="Times New Roman"/>
                <a:ea typeface="Times New Roman"/>
                <a:cs typeface="Times New Roman"/>
                <a:sym typeface="Times New Roman"/>
              </a:rPr>
              <a:t>8th</a:t>
            </a:r>
            <a:r>
              <a:rPr lang="en-US" sz="2798">
                <a:solidFill>
                  <a:srgbClr val="000000"/>
                </a:solidFill>
                <a:latin typeface="Times New Roman"/>
                <a:ea typeface="Times New Roman"/>
                <a:cs typeface="Times New Roman"/>
                <a:sym typeface="Times New Roman"/>
              </a:rPr>
              <a:t> </a:t>
            </a:r>
            <a:r>
              <a:rPr lang="en-US" sz="2798">
                <a:solidFill>
                  <a:srgbClr val="000000"/>
                </a:solidFill>
                <a:latin typeface="Times New Roman"/>
                <a:ea typeface="Times New Roman"/>
                <a:cs typeface="Times New Roman"/>
                <a:sym typeface="Times New Roman"/>
              </a:rPr>
              <a:t>SEM/4th</a:t>
            </a:r>
            <a:r>
              <a:rPr lang="en-US" sz="2798">
                <a:solidFill>
                  <a:srgbClr val="000000"/>
                </a:solidFill>
                <a:latin typeface="Times New Roman"/>
                <a:ea typeface="Times New Roman"/>
                <a:cs typeface="Times New Roman"/>
                <a:sym typeface="Times New Roman"/>
              </a:rPr>
              <a:t> </a:t>
            </a:r>
            <a:r>
              <a:rPr lang="en-US" sz="2798">
                <a:solidFill>
                  <a:srgbClr val="000000"/>
                </a:solidFill>
                <a:latin typeface="Times New Roman"/>
                <a:ea typeface="Times New Roman"/>
                <a:cs typeface="Times New Roman"/>
                <a:sym typeface="Times New Roman"/>
              </a:rPr>
              <a:t>YEAR</a:t>
            </a:r>
          </a:p>
        </p:txBody>
      </p:sp>
      <p:sp>
        <p:nvSpPr>
          <p:cNvPr name="TextBox 16" id="16"/>
          <p:cNvSpPr txBox="true"/>
          <p:nvPr/>
        </p:nvSpPr>
        <p:spPr>
          <a:xfrm rot="0">
            <a:off x="10045332" y="5564447"/>
            <a:ext cx="4402534" cy="416976"/>
          </a:xfrm>
          <a:prstGeom prst="rect">
            <a:avLst/>
          </a:prstGeom>
        </p:spPr>
        <p:txBody>
          <a:bodyPr anchor="t" rtlCol="false" tIns="0" lIns="0" bIns="0" rIns="0">
            <a:spAutoFit/>
          </a:bodyPr>
          <a:lstStyle/>
          <a:p>
            <a:pPr algn="l">
              <a:lnSpc>
                <a:spcPts val="3000"/>
              </a:lnSpc>
            </a:pPr>
            <a:r>
              <a:rPr lang="en-US" sz="2798">
                <a:solidFill>
                  <a:srgbClr val="000000"/>
                </a:solidFill>
                <a:latin typeface="Times New Roman"/>
                <a:ea typeface="Times New Roman"/>
                <a:cs typeface="Times New Roman"/>
                <a:sym typeface="Times New Roman"/>
              </a:rPr>
              <a:t>Guide</a:t>
            </a:r>
            <a:r>
              <a:rPr lang="en-US" sz="2798">
                <a:solidFill>
                  <a:srgbClr val="000000"/>
                </a:solidFill>
                <a:latin typeface="Times New Roman"/>
                <a:ea typeface="Times New Roman"/>
                <a:cs typeface="Times New Roman"/>
                <a:sym typeface="Times New Roman"/>
              </a:rPr>
              <a:t> </a:t>
            </a:r>
            <a:r>
              <a:rPr lang="en-US" sz="2798">
                <a:solidFill>
                  <a:srgbClr val="000000"/>
                </a:solidFill>
                <a:latin typeface="Times New Roman"/>
                <a:ea typeface="Times New Roman"/>
                <a:cs typeface="Times New Roman"/>
                <a:sym typeface="Times New Roman"/>
              </a:rPr>
              <a:t>Name</a:t>
            </a:r>
            <a:r>
              <a:rPr lang="en-US" sz="2798">
                <a:solidFill>
                  <a:srgbClr val="000000"/>
                </a:solidFill>
                <a:latin typeface="Times New Roman"/>
                <a:ea typeface="Times New Roman"/>
                <a:cs typeface="Times New Roman"/>
                <a:sym typeface="Times New Roman"/>
              </a:rPr>
              <a:t> </a:t>
            </a:r>
            <a:r>
              <a:rPr lang="en-US" sz="2798">
                <a:solidFill>
                  <a:srgbClr val="000000"/>
                </a:solidFill>
                <a:latin typeface="Times New Roman"/>
                <a:ea typeface="Times New Roman"/>
                <a:cs typeface="Times New Roman"/>
                <a:sym typeface="Times New Roman"/>
              </a:rPr>
              <a:t>: </a:t>
            </a:r>
            <a:r>
              <a:rPr lang="en-US" sz="2798">
                <a:solidFill>
                  <a:srgbClr val="000000"/>
                </a:solidFill>
                <a:latin typeface="Times New Roman"/>
                <a:ea typeface="Times New Roman"/>
                <a:cs typeface="Times New Roman"/>
                <a:sym typeface="Times New Roman"/>
              </a:rPr>
              <a:t> </a:t>
            </a:r>
            <a:r>
              <a:rPr lang="en-US" sz="2798">
                <a:solidFill>
                  <a:srgbClr val="000000"/>
                </a:solidFill>
                <a:latin typeface="Times New Roman"/>
                <a:ea typeface="Times New Roman"/>
                <a:cs typeface="Times New Roman"/>
                <a:sym typeface="Times New Roman"/>
              </a:rPr>
              <a:t>Dr.R.Neelaveni</a:t>
            </a:r>
          </a:p>
        </p:txBody>
      </p:sp>
      <p:sp>
        <p:nvSpPr>
          <p:cNvPr name="TextBox 17" id="17"/>
          <p:cNvSpPr txBox="true"/>
          <p:nvPr/>
        </p:nvSpPr>
        <p:spPr>
          <a:xfrm rot="0">
            <a:off x="12246599" y="6063786"/>
            <a:ext cx="3946712" cy="416976"/>
          </a:xfrm>
          <a:prstGeom prst="rect">
            <a:avLst/>
          </a:prstGeom>
        </p:spPr>
        <p:txBody>
          <a:bodyPr anchor="t" rtlCol="false" tIns="0" lIns="0" bIns="0" rIns="0">
            <a:spAutoFit/>
          </a:bodyPr>
          <a:lstStyle/>
          <a:p>
            <a:pPr algn="l">
              <a:lnSpc>
                <a:spcPts val="3000"/>
              </a:lnSpc>
            </a:pPr>
            <a:r>
              <a:rPr lang="en-US" sz="2798">
                <a:solidFill>
                  <a:srgbClr val="000000"/>
                </a:solidFill>
                <a:latin typeface="Times New Roman"/>
                <a:ea typeface="Times New Roman"/>
                <a:cs typeface="Times New Roman"/>
                <a:sym typeface="Times New Roman"/>
              </a:rPr>
              <a:t>CSE &amp; AIML</a:t>
            </a:r>
            <a:r>
              <a:rPr lang="en-US" sz="2798">
                <a:solidFill>
                  <a:srgbClr val="000000"/>
                </a:solidFill>
                <a:latin typeface="Times New Roman"/>
                <a:ea typeface="Times New Roman"/>
                <a:cs typeface="Times New Roman"/>
                <a:sym typeface="Times New Roman"/>
              </a:rPr>
              <a:t> </a:t>
            </a:r>
            <a:r>
              <a:rPr lang="en-US" sz="2798">
                <a:solidFill>
                  <a:srgbClr val="000000"/>
                </a:solidFill>
                <a:latin typeface="Times New Roman"/>
                <a:ea typeface="Times New Roman"/>
                <a:cs typeface="Times New Roman"/>
                <a:sym typeface="Times New Roman"/>
              </a:rPr>
              <a:t>(AP/AC)</a:t>
            </a:r>
          </a:p>
        </p:txBody>
      </p:sp>
      <p:sp>
        <p:nvSpPr>
          <p:cNvPr name="TextBox 18" id="18"/>
          <p:cNvSpPr txBox="true"/>
          <p:nvPr/>
        </p:nvSpPr>
        <p:spPr>
          <a:xfrm rot="0">
            <a:off x="2673725" y="2264169"/>
            <a:ext cx="13199040" cy="1284627"/>
          </a:xfrm>
          <a:prstGeom prst="rect">
            <a:avLst/>
          </a:prstGeom>
        </p:spPr>
        <p:txBody>
          <a:bodyPr anchor="t" rtlCol="false" tIns="0" lIns="0" bIns="0" rIns="0">
            <a:spAutoFit/>
          </a:bodyPr>
          <a:lstStyle/>
          <a:p>
            <a:pPr algn="ctr">
              <a:lnSpc>
                <a:spcPts val="5024"/>
              </a:lnSpc>
            </a:pPr>
            <a:r>
              <a:rPr lang="en-US" b="true" sz="4197">
                <a:solidFill>
                  <a:srgbClr val="000000"/>
                </a:solidFill>
                <a:latin typeface="Times New Roman Bold"/>
                <a:ea typeface="Times New Roman Bold"/>
                <a:cs typeface="Times New Roman Bold"/>
                <a:sym typeface="Times New Roman Bold"/>
              </a:rPr>
              <a:t>Implementing Privacy-Preserving Techniques for Secure Healthcare Data Analytics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26704" y="1359437"/>
            <a:ext cx="2015623" cy="1659160"/>
            <a:chOff x="0" y="0"/>
            <a:chExt cx="2687498"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TextBox 4" id="4"/>
          <p:cNvSpPr txBox="true"/>
          <p:nvPr/>
        </p:nvSpPr>
        <p:spPr>
          <a:xfrm rot="0">
            <a:off x="7189441" y="8460962"/>
            <a:ext cx="3967829"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DEPARTMENT OF CSE</a:t>
            </a:r>
          </a:p>
        </p:txBody>
      </p:sp>
      <p:sp>
        <p:nvSpPr>
          <p:cNvPr name="TextBox 5" id="5"/>
          <p:cNvSpPr txBox="true"/>
          <p:nvPr/>
        </p:nvSpPr>
        <p:spPr>
          <a:xfrm rot="0">
            <a:off x="15489650" y="8460962"/>
            <a:ext cx="181289"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2</a:t>
            </a:r>
          </a:p>
        </p:txBody>
      </p:sp>
      <p:sp>
        <p:nvSpPr>
          <p:cNvPr name="TextBox 6" id="6"/>
          <p:cNvSpPr txBox="true"/>
          <p:nvPr/>
        </p:nvSpPr>
        <p:spPr>
          <a:xfrm rot="0">
            <a:off x="2025845" y="3025284"/>
            <a:ext cx="12867780" cy="5141976"/>
          </a:xfrm>
          <a:prstGeom prst="rect">
            <a:avLst/>
          </a:prstGeom>
        </p:spPr>
        <p:txBody>
          <a:bodyPr anchor="t" rtlCol="false" tIns="0" lIns="0" bIns="0" rIns="0">
            <a:spAutoFit/>
          </a:bodyPr>
          <a:lstStyle/>
          <a:p>
            <a:pPr algn="l">
              <a:lnSpc>
                <a:spcPts val="6678"/>
              </a:lnSpc>
            </a:pPr>
            <a:r>
              <a:rPr lang="en-US" b="true" sz="4200">
                <a:solidFill>
                  <a:srgbClr val="000000"/>
                </a:solidFill>
                <a:latin typeface="Times New Roman Bold"/>
                <a:ea typeface="Times New Roman Bold"/>
                <a:cs typeface="Times New Roman Bold"/>
                <a:sym typeface="Times New Roman Bold"/>
              </a:rPr>
              <a:t>Objectives</a:t>
            </a:r>
          </a:p>
          <a:p>
            <a:pPr algn="just">
              <a:lnSpc>
                <a:spcPts val="3816"/>
              </a:lnSpc>
            </a:pPr>
            <a:r>
              <a:rPr lang="en-US" sz="2400">
                <a:solidFill>
                  <a:srgbClr val="000000"/>
                </a:solidFill>
                <a:latin typeface="Times New Roman"/>
                <a:ea typeface="Times New Roman"/>
                <a:cs typeface="Times New Roman"/>
                <a:sym typeface="Times New Roman"/>
              </a:rPr>
              <a:t>The main objective of this project is to develop a privacy-preserving healthcare data analytics framework that allows multiple hospitals to securely share and analyze medical data while protecting sensitive patient information. Healthcare datasets contain confidential details such as patient records, diagnosis information, and treatment history, which must be protected during storage, transmission, and analysis. To achieve this, the system implements a two-level security mechanism using Denoising Autoencoder and Adaptive Transform Level Fusion encryption to protect both the structural and statistical properties of the data. Through this approach, hospitals can share encrypted datasets with a central server where secure data fusion and machine learning analytics can be performed without revealing the original patient information, ensuring both effective healthcare analytics and strong patient data privacy.</a:t>
            </a:r>
          </a:p>
        </p:txBody>
      </p:sp>
      <p:sp>
        <p:nvSpPr>
          <p:cNvPr name="TextBox 7" id="7"/>
          <p:cNvSpPr txBox="true"/>
          <p:nvPr/>
        </p:nvSpPr>
        <p:spPr>
          <a:xfrm rot="0">
            <a:off x="2025845" y="8463786"/>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75641" y="2220401"/>
            <a:ext cx="2015614" cy="1659160"/>
            <a:chOff x="0" y="0"/>
            <a:chExt cx="2687485"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TextBox 4" id="4"/>
          <p:cNvSpPr txBox="true"/>
          <p:nvPr/>
        </p:nvSpPr>
        <p:spPr>
          <a:xfrm rot="0">
            <a:off x="6782143" y="8898826"/>
            <a:ext cx="3967829"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DEPARTMENT OF CSE</a:t>
            </a:r>
          </a:p>
        </p:txBody>
      </p:sp>
      <p:sp>
        <p:nvSpPr>
          <p:cNvPr name="TextBox 5" id="5"/>
          <p:cNvSpPr txBox="true"/>
          <p:nvPr/>
        </p:nvSpPr>
        <p:spPr>
          <a:xfrm rot="0">
            <a:off x="15539533" y="8889302"/>
            <a:ext cx="181289"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3</a:t>
            </a:r>
          </a:p>
        </p:txBody>
      </p:sp>
      <p:sp>
        <p:nvSpPr>
          <p:cNvPr name="TextBox 6" id="6"/>
          <p:cNvSpPr txBox="true"/>
          <p:nvPr/>
        </p:nvSpPr>
        <p:spPr>
          <a:xfrm rot="0">
            <a:off x="2304303" y="3289925"/>
            <a:ext cx="3703006" cy="589636"/>
          </a:xfrm>
          <a:prstGeom prst="rect">
            <a:avLst/>
          </a:prstGeom>
        </p:spPr>
        <p:txBody>
          <a:bodyPr anchor="t" rtlCol="false" tIns="0" lIns="0" bIns="0" rIns="0">
            <a:spAutoFit/>
          </a:bodyPr>
          <a:lstStyle/>
          <a:p>
            <a:pPr algn="l">
              <a:lnSpc>
                <a:spcPts val="4464"/>
              </a:lnSpc>
            </a:pPr>
            <a:r>
              <a:rPr lang="en-US" b="true" sz="4200">
                <a:solidFill>
                  <a:srgbClr val="000000"/>
                </a:solidFill>
                <a:latin typeface="Times New Roman Bold"/>
                <a:ea typeface="Times New Roman Bold"/>
                <a:cs typeface="Times New Roman Bold"/>
                <a:sym typeface="Times New Roman Bold"/>
              </a:rPr>
              <a:t>Existing System</a:t>
            </a:r>
          </a:p>
        </p:txBody>
      </p:sp>
      <p:sp>
        <p:nvSpPr>
          <p:cNvPr name="TextBox 7" id="7"/>
          <p:cNvSpPr txBox="true"/>
          <p:nvPr/>
        </p:nvSpPr>
        <p:spPr>
          <a:xfrm rot="0">
            <a:off x="1655416" y="5210356"/>
            <a:ext cx="77724" cy="415852"/>
          </a:xfrm>
          <a:prstGeom prst="rect">
            <a:avLst/>
          </a:prstGeom>
        </p:spPr>
        <p:txBody>
          <a:bodyPr anchor="t" rtlCol="false" tIns="0" lIns="0" bIns="0" rIns="0">
            <a:spAutoFit/>
          </a:bodyPr>
          <a:lstStyle/>
          <a:p>
            <a:pPr algn="l">
              <a:lnSpc>
                <a:spcPts val="3338"/>
              </a:lnSpc>
            </a:pPr>
            <a:r>
              <a:rPr lang="en-US" b="true" sz="2400">
                <a:solidFill>
                  <a:srgbClr val="000000"/>
                </a:solidFill>
                <a:latin typeface="Times New Roman Bold"/>
                <a:ea typeface="Times New Roman Bold"/>
                <a:cs typeface="Times New Roman Bold"/>
                <a:sym typeface="Times New Roman Bold"/>
              </a:rPr>
              <a:t> </a:t>
            </a:r>
          </a:p>
        </p:txBody>
      </p:sp>
      <p:sp>
        <p:nvSpPr>
          <p:cNvPr name="TextBox 8" id="8"/>
          <p:cNvSpPr txBox="true"/>
          <p:nvPr/>
        </p:nvSpPr>
        <p:spPr>
          <a:xfrm rot="0">
            <a:off x="2635491" y="4164854"/>
            <a:ext cx="12361857" cy="4195191"/>
          </a:xfrm>
          <a:prstGeom prst="rect">
            <a:avLst/>
          </a:prstGeom>
        </p:spPr>
        <p:txBody>
          <a:bodyPr anchor="t" rtlCol="false" tIns="0" lIns="0" bIns="0" rIns="0">
            <a:spAutoFit/>
          </a:bodyPr>
          <a:lstStyle/>
          <a:p>
            <a:pPr algn="just">
              <a:lnSpc>
                <a:spcPts val="3072"/>
              </a:lnSpc>
            </a:pPr>
            <a:r>
              <a:rPr lang="en-US" sz="2400">
                <a:solidFill>
                  <a:srgbClr val="000000"/>
                </a:solidFill>
                <a:latin typeface="Times New Roman"/>
                <a:ea typeface="Times New Roman"/>
                <a:cs typeface="Times New Roman"/>
                <a:sym typeface="Times New Roman"/>
              </a:rPr>
              <a:t>In traditional healthcare data analytics systems, datasets from different hospitals are collected and stored in a centralized </a:t>
            </a:r>
            <a:r>
              <a:rPr lang="en-US" sz="2400">
                <a:solidFill>
                  <a:srgbClr val="000000"/>
                </a:solidFill>
                <a:latin typeface="Times New Roman"/>
                <a:ea typeface="Times New Roman"/>
                <a:cs typeface="Times New Roman"/>
                <a:sym typeface="Times New Roman"/>
              </a:rPr>
              <a:t>server for analysis. These systems often rely on basic encryption techniques or simple data protection methods. However, during data sharing and analytics processes, sensitive patient information may still be exposed. Existing systems usually provide single-layer security, which is not sufficient to prevent statistical attacks or pattern-based data leakage. Additionally, these systems do not effectively hide the structural relationships within the datasets, making them vulnerable to privacy breaches. As a result, there is a need for a more advanced privacy-preserving framework that can secure healthcare data while still enabling effective analytics.the centralized storage of large-scale healthcare data increases the risk of unauthorized access and data misuse. If the central server is compromised, the entire dataset containing confidential patient information may be exposed.</a:t>
            </a:r>
          </a:p>
        </p:txBody>
      </p:sp>
      <p:sp>
        <p:nvSpPr>
          <p:cNvPr name="TextBox 9" id="9"/>
          <p:cNvSpPr txBox="true"/>
          <p:nvPr/>
        </p:nvSpPr>
        <p:spPr>
          <a:xfrm rot="0">
            <a:off x="1806121" y="8883434"/>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719158" y="1041173"/>
            <a:ext cx="2015623" cy="1659160"/>
            <a:chOff x="0" y="0"/>
            <a:chExt cx="2687498"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Freeform 4" id="4"/>
          <p:cNvSpPr/>
          <p:nvPr/>
        </p:nvSpPr>
        <p:spPr>
          <a:xfrm flipH="false" flipV="false" rot="0">
            <a:off x="11578742" y="3880492"/>
            <a:ext cx="6280832" cy="4076310"/>
          </a:xfrm>
          <a:custGeom>
            <a:avLst/>
            <a:gdLst/>
            <a:ahLst/>
            <a:cxnLst/>
            <a:rect r="r" b="b" t="t" l="l"/>
            <a:pathLst>
              <a:path h="4076310" w="6280832">
                <a:moveTo>
                  <a:pt x="0" y="0"/>
                </a:moveTo>
                <a:lnTo>
                  <a:pt x="6280832" y="0"/>
                </a:lnTo>
                <a:lnTo>
                  <a:pt x="6280832" y="4076310"/>
                </a:lnTo>
                <a:lnTo>
                  <a:pt x="0" y="4076310"/>
                </a:lnTo>
                <a:lnTo>
                  <a:pt x="0" y="0"/>
                </a:lnTo>
                <a:close/>
              </a:path>
            </a:pathLst>
          </a:custGeom>
          <a:blipFill>
            <a:blip r:embed="rId3"/>
            <a:stretch>
              <a:fillRect l="0" t="0" r="0" b="-2720"/>
            </a:stretch>
          </a:blipFill>
        </p:spPr>
      </p:sp>
      <p:sp>
        <p:nvSpPr>
          <p:cNvPr name="TextBox 5" id="5"/>
          <p:cNvSpPr txBox="true"/>
          <p:nvPr/>
        </p:nvSpPr>
        <p:spPr>
          <a:xfrm rot="0">
            <a:off x="6895386" y="8993372"/>
            <a:ext cx="3890764"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DEPARTMENT OF CSE</a:t>
            </a:r>
          </a:p>
        </p:txBody>
      </p:sp>
      <p:sp>
        <p:nvSpPr>
          <p:cNvPr name="TextBox 6" id="6"/>
          <p:cNvSpPr txBox="true"/>
          <p:nvPr/>
        </p:nvSpPr>
        <p:spPr>
          <a:xfrm rot="0">
            <a:off x="16141751" y="9060761"/>
            <a:ext cx="181289"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4</a:t>
            </a:r>
          </a:p>
        </p:txBody>
      </p:sp>
      <p:sp>
        <p:nvSpPr>
          <p:cNvPr name="TextBox 7" id="7"/>
          <p:cNvSpPr txBox="true"/>
          <p:nvPr/>
        </p:nvSpPr>
        <p:spPr>
          <a:xfrm rot="0">
            <a:off x="1922289" y="2605083"/>
            <a:ext cx="3974516" cy="722986"/>
          </a:xfrm>
          <a:prstGeom prst="rect">
            <a:avLst/>
          </a:prstGeom>
        </p:spPr>
        <p:txBody>
          <a:bodyPr anchor="t" rtlCol="false" tIns="0" lIns="0" bIns="0" rIns="0">
            <a:spAutoFit/>
          </a:bodyPr>
          <a:lstStyle/>
          <a:p>
            <a:pPr algn="l">
              <a:lnSpc>
                <a:spcPts val="5880"/>
              </a:lnSpc>
            </a:pPr>
            <a:r>
              <a:rPr lang="en-US" b="true" sz="4200">
                <a:solidFill>
                  <a:srgbClr val="000000"/>
                </a:solidFill>
                <a:latin typeface="Times New Roman Bold"/>
                <a:ea typeface="Times New Roman Bold"/>
                <a:cs typeface="Times New Roman Bold"/>
                <a:sym typeface="Times New Roman Bold"/>
              </a:rPr>
              <a:t>Proposed System</a:t>
            </a:r>
          </a:p>
        </p:txBody>
      </p:sp>
      <p:sp>
        <p:nvSpPr>
          <p:cNvPr name="TextBox 8" id="8"/>
          <p:cNvSpPr txBox="true"/>
          <p:nvPr/>
        </p:nvSpPr>
        <p:spPr>
          <a:xfrm rot="0">
            <a:off x="1922289" y="3596670"/>
            <a:ext cx="8863861" cy="4556608"/>
          </a:xfrm>
          <a:prstGeom prst="rect">
            <a:avLst/>
          </a:prstGeom>
        </p:spPr>
        <p:txBody>
          <a:bodyPr anchor="t" rtlCol="false" tIns="0" lIns="0" bIns="0" rIns="0">
            <a:spAutoFit/>
          </a:bodyPr>
          <a:lstStyle/>
          <a:p>
            <a:pPr algn="just">
              <a:lnSpc>
                <a:spcPts val="2551"/>
              </a:lnSpc>
            </a:pPr>
            <a:r>
              <a:rPr lang="en-US" sz="2400" spc="21">
                <a:solidFill>
                  <a:srgbClr val="000000"/>
                </a:solidFill>
                <a:latin typeface="Times New Roman"/>
                <a:ea typeface="Times New Roman"/>
                <a:cs typeface="Times New Roman"/>
                <a:sym typeface="Times New Roman"/>
              </a:rPr>
              <a:t>The proposed system introduces a two-level privacy-preserving architecture for secure healthcare data analytics across multiple hospitals. In the first level, each hospital processes its dataset using a Denoising Autoencoder, which removes noise and encodes the dataset into a latent representation, providing structural protection. The encoded data is then encrypted and transmitted securely to a central server. In the second level, encrypted datasets from different hospitals are combined using Adaptive Transform Level Fusion, which applies value-level transformation, position-level mixing, and dynamic key injection to enhance security. During data retrieval, the system performs decryption using reverse operations such as reverse bit rotation, reverse nonlinear mapping, reverse permutation, and autoencoder decoding. This dual-layer approach ensures high data privacy while enabling secure machine learning analytics.</a:t>
            </a:r>
          </a:p>
        </p:txBody>
      </p:sp>
      <p:sp>
        <p:nvSpPr>
          <p:cNvPr name="TextBox 9" id="9"/>
          <p:cNvSpPr txBox="true"/>
          <p:nvPr/>
        </p:nvSpPr>
        <p:spPr>
          <a:xfrm rot="0">
            <a:off x="1922289" y="8990438"/>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135090" y="1858280"/>
            <a:ext cx="2015623" cy="1659160"/>
            <a:chOff x="0" y="0"/>
            <a:chExt cx="2687498"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TextBox 4" id="4"/>
          <p:cNvSpPr txBox="true"/>
          <p:nvPr/>
        </p:nvSpPr>
        <p:spPr>
          <a:xfrm rot="0">
            <a:off x="6851952" y="9331042"/>
            <a:ext cx="3967829"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DEPARTMENT OF CSE</a:t>
            </a:r>
          </a:p>
        </p:txBody>
      </p:sp>
      <p:sp>
        <p:nvSpPr>
          <p:cNvPr name="TextBox 5" id="5"/>
          <p:cNvSpPr txBox="true"/>
          <p:nvPr/>
        </p:nvSpPr>
        <p:spPr>
          <a:xfrm rot="0">
            <a:off x="16713194" y="9326994"/>
            <a:ext cx="181289" cy="494538"/>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5</a:t>
            </a:r>
          </a:p>
        </p:txBody>
      </p:sp>
      <p:sp>
        <p:nvSpPr>
          <p:cNvPr name="TextBox 6" id="6"/>
          <p:cNvSpPr txBox="true"/>
          <p:nvPr/>
        </p:nvSpPr>
        <p:spPr>
          <a:xfrm rot="0">
            <a:off x="2396971" y="3271523"/>
            <a:ext cx="5062118" cy="694411"/>
          </a:xfrm>
          <a:prstGeom prst="rect">
            <a:avLst/>
          </a:prstGeom>
        </p:spPr>
        <p:txBody>
          <a:bodyPr anchor="t" rtlCol="false" tIns="0" lIns="0" bIns="0" rIns="0">
            <a:spAutoFit/>
          </a:bodyPr>
          <a:lstStyle/>
          <a:p>
            <a:pPr algn="l">
              <a:lnSpc>
                <a:spcPts val="5577"/>
              </a:lnSpc>
            </a:pPr>
            <a:r>
              <a:rPr lang="en-US" b="true" sz="4200">
                <a:solidFill>
                  <a:srgbClr val="000000"/>
                </a:solidFill>
                <a:latin typeface="Times New Roman Bold"/>
                <a:ea typeface="Times New Roman Bold"/>
                <a:cs typeface="Times New Roman Bold"/>
                <a:sym typeface="Times New Roman Bold"/>
              </a:rPr>
              <a:t>System Requirements</a:t>
            </a:r>
          </a:p>
        </p:txBody>
      </p:sp>
      <p:sp>
        <p:nvSpPr>
          <p:cNvPr name="TextBox 7" id="7"/>
          <p:cNvSpPr txBox="true"/>
          <p:nvPr/>
        </p:nvSpPr>
        <p:spPr>
          <a:xfrm rot="0">
            <a:off x="2458793" y="2419817"/>
            <a:ext cx="77724" cy="673027"/>
          </a:xfrm>
          <a:prstGeom prst="rect">
            <a:avLst/>
          </a:prstGeom>
        </p:spPr>
        <p:txBody>
          <a:bodyPr anchor="t" rtlCol="false" tIns="0" lIns="0" bIns="0" rIns="0">
            <a:spAutoFit/>
          </a:bodyPr>
          <a:lstStyle/>
          <a:p>
            <a:pPr algn="l">
              <a:lnSpc>
                <a:spcPts val="6000"/>
              </a:lnSpc>
            </a:pPr>
            <a:r>
              <a:rPr lang="en-US" sz="2400">
                <a:solidFill>
                  <a:srgbClr val="000000"/>
                </a:solidFill>
                <a:latin typeface="Times New Roman"/>
                <a:ea typeface="Times New Roman"/>
                <a:cs typeface="Times New Roman"/>
                <a:sym typeface="Times New Roman"/>
              </a:rPr>
              <a:t> </a:t>
            </a:r>
          </a:p>
        </p:txBody>
      </p:sp>
      <p:sp>
        <p:nvSpPr>
          <p:cNvPr name="TextBox 8" id="8"/>
          <p:cNvSpPr txBox="true"/>
          <p:nvPr/>
        </p:nvSpPr>
        <p:spPr>
          <a:xfrm rot="0">
            <a:off x="2396971" y="4137384"/>
            <a:ext cx="12877790" cy="4664202"/>
          </a:xfrm>
          <a:prstGeom prst="rect">
            <a:avLst/>
          </a:prstGeom>
        </p:spPr>
        <p:txBody>
          <a:bodyPr anchor="t" rtlCol="false" tIns="0" lIns="0" bIns="0" rIns="0">
            <a:spAutoFit/>
          </a:bodyPr>
          <a:lstStyle/>
          <a:p>
            <a:pPr algn="l">
              <a:lnSpc>
                <a:spcPts val="3743"/>
              </a:lnSpc>
            </a:pPr>
            <a:r>
              <a:rPr lang="en-US" b="true" sz="2599">
                <a:solidFill>
                  <a:srgbClr val="000000"/>
                </a:solidFill>
                <a:latin typeface="Times New Roman Bold"/>
                <a:ea typeface="Times New Roman Bold"/>
                <a:cs typeface="Times New Roman Bold"/>
                <a:sym typeface="Times New Roman Bold"/>
              </a:rPr>
              <a:t>Hardware</a:t>
            </a:r>
            <a:r>
              <a:rPr lang="en-US" b="true" sz="2599">
                <a:solidFill>
                  <a:srgbClr val="000000"/>
                </a:solidFill>
                <a:latin typeface="Times New Roman Bold"/>
                <a:ea typeface="Times New Roman Bold"/>
                <a:cs typeface="Times New Roman Bold"/>
                <a:sym typeface="Times New Roman Bold"/>
              </a:rPr>
              <a:t> </a:t>
            </a:r>
            <a:r>
              <a:rPr lang="en-US" b="true" sz="2599">
                <a:solidFill>
                  <a:srgbClr val="000000"/>
                </a:solidFill>
                <a:latin typeface="Times New Roman Bold"/>
                <a:ea typeface="Times New Roman Bold"/>
                <a:cs typeface="Times New Roman Bold"/>
                <a:sym typeface="Times New Roman Bold"/>
              </a:rPr>
              <a:t>Requirements</a:t>
            </a:r>
          </a:p>
          <a:p>
            <a:pPr algn="l">
              <a:lnSpc>
                <a:spcPts val="3743"/>
              </a:lnSpc>
            </a:pPr>
            <a:r>
              <a:rPr lang="en-US" sz="2599">
                <a:solidFill>
                  <a:srgbClr val="000000"/>
                </a:solidFill>
                <a:latin typeface="Times New Roman"/>
                <a:ea typeface="Times New Roman"/>
                <a:cs typeface="Times New Roman"/>
                <a:sym typeface="Times New Roman"/>
              </a:rPr>
              <a:t>The system requires a computer with a minimum Intel i5 or equivalent processor, 8 GB RAM, and sufficient storage capacity such as 256 GB SSD to handle dataset processing and machine learning computations. </a:t>
            </a:r>
          </a:p>
          <a:p>
            <a:pPr algn="l">
              <a:lnSpc>
                <a:spcPts val="3743"/>
              </a:lnSpc>
            </a:pPr>
            <a:r>
              <a:rPr lang="en-US" b="true" sz="2599">
                <a:solidFill>
                  <a:srgbClr val="000000"/>
                </a:solidFill>
                <a:latin typeface="Times New Roman Bold"/>
                <a:ea typeface="Times New Roman Bold"/>
                <a:cs typeface="Times New Roman Bold"/>
                <a:sym typeface="Times New Roman Bold"/>
              </a:rPr>
              <a:t>Software Requirements</a:t>
            </a:r>
          </a:p>
          <a:p>
            <a:pPr algn="l">
              <a:lnSpc>
                <a:spcPts val="3743"/>
              </a:lnSpc>
            </a:pPr>
            <a:r>
              <a:rPr lang="en-US" sz="2599">
                <a:solidFill>
                  <a:srgbClr val="000000"/>
                </a:solidFill>
                <a:latin typeface="Times New Roman"/>
                <a:ea typeface="Times New Roman"/>
                <a:cs typeface="Times New Roman"/>
                <a:sym typeface="Times New Roman"/>
              </a:rPr>
              <a:t> The software environment includes Python programming language for implementing machine learning models and encryption algorithms. Development tools such as Jupyter Notebook or Visual Studio Code are used for coding and experimentation. Libraries such as TensorFlow, NumPy, Pandas, Scikit-learn, and Matplotlib are used for data processing, model development, and visualization.</a:t>
            </a:r>
          </a:p>
        </p:txBody>
      </p:sp>
      <p:sp>
        <p:nvSpPr>
          <p:cNvPr name="TextBox 9" id="9"/>
          <p:cNvSpPr txBox="true"/>
          <p:nvPr/>
        </p:nvSpPr>
        <p:spPr>
          <a:xfrm rot="0">
            <a:off x="1567601" y="9182100"/>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28718" y="220742"/>
            <a:ext cx="2015623" cy="1659160"/>
            <a:chOff x="0" y="0"/>
            <a:chExt cx="2687498"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Freeform 4" id="4"/>
          <p:cNvSpPr/>
          <p:nvPr/>
        </p:nvSpPr>
        <p:spPr>
          <a:xfrm flipH="false" flipV="false" rot="0">
            <a:off x="726778" y="2114047"/>
            <a:ext cx="16762893" cy="7749042"/>
          </a:xfrm>
          <a:custGeom>
            <a:avLst/>
            <a:gdLst/>
            <a:ahLst/>
            <a:cxnLst/>
            <a:rect r="r" b="b" t="t" l="l"/>
            <a:pathLst>
              <a:path h="7749042" w="16762893">
                <a:moveTo>
                  <a:pt x="0" y="0"/>
                </a:moveTo>
                <a:lnTo>
                  <a:pt x="16762892" y="0"/>
                </a:lnTo>
                <a:lnTo>
                  <a:pt x="16762892" y="7749041"/>
                </a:lnTo>
                <a:lnTo>
                  <a:pt x="0" y="7749041"/>
                </a:lnTo>
                <a:lnTo>
                  <a:pt x="0" y="0"/>
                </a:lnTo>
                <a:close/>
              </a:path>
            </a:pathLst>
          </a:custGeom>
          <a:blipFill>
            <a:blip r:embed="rId3">
              <a:extLst>
                <a:ext uri="{96DAC541-7B7A-43D3-8B79-37D633B846F1}">
                  <asvg:svgBlip xmlns:asvg="http://schemas.microsoft.com/office/drawing/2016/SVG/main" r:embed="rId4"/>
                </a:ext>
              </a:extLst>
            </a:blip>
            <a:stretch>
              <a:fillRect l="0" t="-17891" r="-4766" b="0"/>
            </a:stretch>
          </a:blipFill>
        </p:spPr>
      </p:sp>
      <p:sp>
        <p:nvSpPr>
          <p:cNvPr name="TextBox 5" id="5"/>
          <p:cNvSpPr txBox="true"/>
          <p:nvPr/>
        </p:nvSpPr>
        <p:spPr>
          <a:xfrm rot="0">
            <a:off x="10006870" y="8801833"/>
            <a:ext cx="122996" cy="340528"/>
          </a:xfrm>
          <a:prstGeom prst="rect">
            <a:avLst/>
          </a:prstGeom>
        </p:spPr>
        <p:txBody>
          <a:bodyPr anchor="t" rtlCol="false" tIns="0" lIns="0" bIns="0" rIns="0">
            <a:spAutoFit/>
          </a:bodyPr>
          <a:lstStyle/>
          <a:p>
            <a:pPr algn="l">
              <a:lnSpc>
                <a:spcPts val="2700"/>
              </a:lnSpc>
            </a:pPr>
            <a:r>
              <a:rPr lang="en-US" sz="1898">
                <a:solidFill>
                  <a:srgbClr val="000000"/>
                </a:solidFill>
                <a:latin typeface="Arimo"/>
                <a:ea typeface="Arimo"/>
                <a:cs typeface="Arimo"/>
                <a:sym typeface="Arimo"/>
              </a:rPr>
              <a:t>∗</a:t>
            </a:r>
          </a:p>
        </p:txBody>
      </p:sp>
      <p:sp>
        <p:nvSpPr>
          <p:cNvPr name="TextBox 6" id="6"/>
          <p:cNvSpPr txBox="true"/>
          <p:nvPr/>
        </p:nvSpPr>
        <p:spPr>
          <a:xfrm rot="0">
            <a:off x="8862346" y="9549470"/>
            <a:ext cx="61503" cy="179051"/>
          </a:xfrm>
          <a:prstGeom prst="rect">
            <a:avLst/>
          </a:prstGeom>
        </p:spPr>
        <p:txBody>
          <a:bodyPr anchor="t" rtlCol="false" tIns="0" lIns="0" bIns="0" rIns="0">
            <a:spAutoFit/>
          </a:bodyPr>
          <a:lstStyle/>
          <a:p>
            <a:pPr algn="l">
              <a:lnSpc>
                <a:spcPts val="949"/>
              </a:lnSpc>
            </a:pPr>
            <a:r>
              <a:rPr lang="en-US" sz="1898">
                <a:solidFill>
                  <a:srgbClr val="000000"/>
                </a:solidFill>
                <a:latin typeface="Times New Roman"/>
                <a:ea typeface="Times New Roman"/>
                <a:cs typeface="Times New Roman"/>
                <a:sym typeface="Times New Roman"/>
              </a:rPr>
              <a:t> </a:t>
            </a:r>
          </a:p>
        </p:txBody>
      </p:sp>
      <p:sp>
        <p:nvSpPr>
          <p:cNvPr name="TextBox 7" id="7"/>
          <p:cNvSpPr txBox="true"/>
          <p:nvPr/>
        </p:nvSpPr>
        <p:spPr>
          <a:xfrm rot="0">
            <a:off x="904008" y="961177"/>
            <a:ext cx="4185180" cy="722986"/>
          </a:xfrm>
          <a:prstGeom prst="rect">
            <a:avLst/>
          </a:prstGeom>
        </p:spPr>
        <p:txBody>
          <a:bodyPr anchor="t" rtlCol="false" tIns="0" lIns="0" bIns="0" rIns="0">
            <a:spAutoFit/>
          </a:bodyPr>
          <a:lstStyle/>
          <a:p>
            <a:pPr algn="l">
              <a:lnSpc>
                <a:spcPts val="5880"/>
              </a:lnSpc>
            </a:pPr>
            <a:r>
              <a:rPr lang="en-US" b="true" sz="4200">
                <a:solidFill>
                  <a:srgbClr val="000000"/>
                </a:solidFill>
                <a:latin typeface="Times New Roman Bold"/>
                <a:ea typeface="Times New Roman Bold"/>
                <a:cs typeface="Times New Roman Bold"/>
                <a:sym typeface="Times New Roman Bold"/>
              </a:rPr>
              <a:t>Literature Survey</a:t>
            </a:r>
          </a:p>
        </p:txBody>
      </p:sp>
      <p:sp>
        <p:nvSpPr>
          <p:cNvPr name="TextBox 8" id="8"/>
          <p:cNvSpPr txBox="true"/>
          <p:nvPr/>
        </p:nvSpPr>
        <p:spPr>
          <a:xfrm rot="0">
            <a:off x="1180709" y="2394442"/>
            <a:ext cx="709422" cy="470221"/>
          </a:xfrm>
          <a:prstGeom prst="rect">
            <a:avLst/>
          </a:prstGeom>
        </p:spPr>
        <p:txBody>
          <a:bodyPr anchor="t" rtlCol="false" tIns="0" lIns="0" bIns="0" rIns="0">
            <a:spAutoFit/>
          </a:bodyPr>
          <a:lstStyle/>
          <a:p>
            <a:pPr algn="l">
              <a:lnSpc>
                <a:spcPts val="3779"/>
              </a:lnSpc>
            </a:pPr>
            <a:r>
              <a:rPr lang="en-US" b="true" sz="2700">
                <a:solidFill>
                  <a:srgbClr val="FFFFFF"/>
                </a:solidFill>
                <a:latin typeface="Times New Roman Bold"/>
                <a:ea typeface="Times New Roman Bold"/>
                <a:cs typeface="Times New Roman Bold"/>
                <a:sym typeface="Times New Roman Bold"/>
              </a:rPr>
              <a:t>S.No</a:t>
            </a:r>
          </a:p>
        </p:txBody>
      </p:sp>
      <p:sp>
        <p:nvSpPr>
          <p:cNvPr name="TextBox 9" id="9"/>
          <p:cNvSpPr txBox="true"/>
          <p:nvPr/>
        </p:nvSpPr>
        <p:spPr>
          <a:xfrm rot="0">
            <a:off x="4786894" y="2394442"/>
            <a:ext cx="1069257" cy="470221"/>
          </a:xfrm>
          <a:prstGeom prst="rect">
            <a:avLst/>
          </a:prstGeom>
        </p:spPr>
        <p:txBody>
          <a:bodyPr anchor="t" rtlCol="false" tIns="0" lIns="0" bIns="0" rIns="0">
            <a:spAutoFit/>
          </a:bodyPr>
          <a:lstStyle/>
          <a:p>
            <a:pPr algn="l">
              <a:lnSpc>
                <a:spcPts val="3779"/>
              </a:lnSpc>
            </a:pPr>
            <a:r>
              <a:rPr lang="en-US" b="true" sz="2700">
                <a:solidFill>
                  <a:srgbClr val="FFFFFF"/>
                </a:solidFill>
                <a:latin typeface="Times New Roman Bold"/>
                <a:ea typeface="Times New Roman Bold"/>
                <a:cs typeface="Times New Roman Bold"/>
                <a:sym typeface="Times New Roman Bold"/>
              </a:rPr>
              <a:t>TITLE</a:t>
            </a:r>
          </a:p>
        </p:txBody>
      </p:sp>
      <p:sp>
        <p:nvSpPr>
          <p:cNvPr name="TextBox 10" id="10"/>
          <p:cNvSpPr txBox="true"/>
          <p:nvPr/>
        </p:nvSpPr>
        <p:spPr>
          <a:xfrm rot="0">
            <a:off x="8710241" y="2394442"/>
            <a:ext cx="1962607" cy="470221"/>
          </a:xfrm>
          <a:prstGeom prst="rect">
            <a:avLst/>
          </a:prstGeom>
        </p:spPr>
        <p:txBody>
          <a:bodyPr anchor="t" rtlCol="false" tIns="0" lIns="0" bIns="0" rIns="0">
            <a:spAutoFit/>
          </a:bodyPr>
          <a:lstStyle/>
          <a:p>
            <a:pPr algn="l">
              <a:lnSpc>
                <a:spcPts val="3779"/>
              </a:lnSpc>
            </a:pPr>
            <a:r>
              <a:rPr lang="en-US" b="true" sz="2700">
                <a:solidFill>
                  <a:srgbClr val="FFFFFF"/>
                </a:solidFill>
                <a:latin typeface="Times New Roman Bold"/>
                <a:ea typeface="Times New Roman Bold"/>
                <a:cs typeface="Times New Roman Bold"/>
                <a:sym typeface="Times New Roman Bold"/>
              </a:rPr>
              <a:t>AUTHOR(S)</a:t>
            </a:r>
          </a:p>
        </p:txBody>
      </p:sp>
      <p:sp>
        <p:nvSpPr>
          <p:cNvPr name="TextBox 11" id="11"/>
          <p:cNvSpPr txBox="true"/>
          <p:nvPr/>
        </p:nvSpPr>
        <p:spPr>
          <a:xfrm rot="0">
            <a:off x="11743011" y="2394442"/>
            <a:ext cx="2059953" cy="470221"/>
          </a:xfrm>
          <a:prstGeom prst="rect">
            <a:avLst/>
          </a:prstGeom>
        </p:spPr>
        <p:txBody>
          <a:bodyPr anchor="t" rtlCol="false" tIns="0" lIns="0" bIns="0" rIns="0">
            <a:spAutoFit/>
          </a:bodyPr>
          <a:lstStyle/>
          <a:p>
            <a:pPr algn="l">
              <a:lnSpc>
                <a:spcPts val="3779"/>
              </a:lnSpc>
            </a:pPr>
            <a:r>
              <a:rPr lang="en-US" b="true" sz="2700">
                <a:solidFill>
                  <a:srgbClr val="FFFFFF"/>
                </a:solidFill>
                <a:latin typeface="Times New Roman Bold"/>
                <a:ea typeface="Times New Roman Bold"/>
                <a:cs typeface="Times New Roman Bold"/>
                <a:sym typeface="Times New Roman Bold"/>
              </a:rPr>
              <a:t>INFERENCE</a:t>
            </a:r>
          </a:p>
        </p:txBody>
      </p:sp>
      <p:sp>
        <p:nvSpPr>
          <p:cNvPr name="TextBox 12" id="12"/>
          <p:cNvSpPr txBox="true"/>
          <p:nvPr/>
        </p:nvSpPr>
        <p:spPr>
          <a:xfrm rot="0">
            <a:off x="14759483" y="2394442"/>
            <a:ext cx="2497493" cy="470221"/>
          </a:xfrm>
          <a:prstGeom prst="rect">
            <a:avLst/>
          </a:prstGeom>
        </p:spPr>
        <p:txBody>
          <a:bodyPr anchor="t" rtlCol="false" tIns="0" lIns="0" bIns="0" rIns="0">
            <a:spAutoFit/>
          </a:bodyPr>
          <a:lstStyle/>
          <a:p>
            <a:pPr algn="l">
              <a:lnSpc>
                <a:spcPts val="3779"/>
              </a:lnSpc>
            </a:pPr>
            <a:r>
              <a:rPr lang="en-US" b="true" sz="2700">
                <a:solidFill>
                  <a:srgbClr val="FFFFFF"/>
                </a:solidFill>
                <a:latin typeface="Times New Roman Bold"/>
                <a:ea typeface="Times New Roman Bold"/>
                <a:cs typeface="Times New Roman Bold"/>
                <a:sym typeface="Times New Roman Bold"/>
              </a:rPr>
              <a:t>PUBLISHED IN</a:t>
            </a:r>
          </a:p>
        </p:txBody>
      </p:sp>
      <p:sp>
        <p:nvSpPr>
          <p:cNvPr name="TextBox 13" id="13"/>
          <p:cNvSpPr txBox="true"/>
          <p:nvPr/>
        </p:nvSpPr>
        <p:spPr>
          <a:xfrm rot="0">
            <a:off x="1380287" y="3723837"/>
            <a:ext cx="302352" cy="495405"/>
          </a:xfrm>
          <a:prstGeom prst="rect">
            <a:avLst/>
          </a:prstGeom>
        </p:spPr>
        <p:txBody>
          <a:bodyPr anchor="t" rtlCol="false" tIns="0" lIns="0" bIns="0" rIns="0">
            <a:spAutoFit/>
          </a:bodyPr>
          <a:lstStyle/>
          <a:p>
            <a:pPr algn="l">
              <a:lnSpc>
                <a:spcPts val="3918"/>
              </a:lnSpc>
            </a:pPr>
            <a:r>
              <a:rPr lang="en-US" sz="2798">
                <a:solidFill>
                  <a:srgbClr val="000000"/>
                </a:solidFill>
                <a:latin typeface="Arimo"/>
                <a:ea typeface="Arimo"/>
                <a:cs typeface="Arimo"/>
                <a:sym typeface="Arimo"/>
              </a:rPr>
              <a:t>1.</a:t>
            </a:r>
          </a:p>
        </p:txBody>
      </p:sp>
      <p:sp>
        <p:nvSpPr>
          <p:cNvPr name="TextBox 14" id="14"/>
          <p:cNvSpPr txBox="true"/>
          <p:nvPr/>
        </p:nvSpPr>
        <p:spPr>
          <a:xfrm rot="0">
            <a:off x="1380287" y="5364261"/>
            <a:ext cx="302352" cy="495405"/>
          </a:xfrm>
          <a:prstGeom prst="rect">
            <a:avLst/>
          </a:prstGeom>
        </p:spPr>
        <p:txBody>
          <a:bodyPr anchor="t" rtlCol="false" tIns="0" lIns="0" bIns="0" rIns="0">
            <a:spAutoFit/>
          </a:bodyPr>
          <a:lstStyle/>
          <a:p>
            <a:pPr algn="l">
              <a:lnSpc>
                <a:spcPts val="3918"/>
              </a:lnSpc>
            </a:pPr>
            <a:r>
              <a:rPr lang="en-US" sz="2798">
                <a:solidFill>
                  <a:srgbClr val="000000"/>
                </a:solidFill>
                <a:latin typeface="Arimo"/>
                <a:ea typeface="Arimo"/>
                <a:cs typeface="Arimo"/>
                <a:sym typeface="Arimo"/>
              </a:rPr>
              <a:t>2.</a:t>
            </a:r>
          </a:p>
        </p:txBody>
      </p:sp>
      <p:sp>
        <p:nvSpPr>
          <p:cNvPr name="TextBox 15" id="15"/>
          <p:cNvSpPr txBox="true"/>
          <p:nvPr/>
        </p:nvSpPr>
        <p:spPr>
          <a:xfrm rot="0">
            <a:off x="1380287" y="6922789"/>
            <a:ext cx="302352" cy="495405"/>
          </a:xfrm>
          <a:prstGeom prst="rect">
            <a:avLst/>
          </a:prstGeom>
        </p:spPr>
        <p:txBody>
          <a:bodyPr anchor="t" rtlCol="false" tIns="0" lIns="0" bIns="0" rIns="0">
            <a:spAutoFit/>
          </a:bodyPr>
          <a:lstStyle/>
          <a:p>
            <a:pPr algn="l">
              <a:lnSpc>
                <a:spcPts val="3918"/>
              </a:lnSpc>
            </a:pPr>
            <a:r>
              <a:rPr lang="en-US" sz="2798">
                <a:solidFill>
                  <a:srgbClr val="000000"/>
                </a:solidFill>
                <a:latin typeface="Arimo"/>
                <a:ea typeface="Arimo"/>
                <a:cs typeface="Arimo"/>
                <a:sym typeface="Arimo"/>
              </a:rPr>
              <a:t>3.</a:t>
            </a:r>
          </a:p>
        </p:txBody>
      </p:sp>
      <p:sp>
        <p:nvSpPr>
          <p:cNvPr name="TextBox 16" id="16"/>
          <p:cNvSpPr txBox="true"/>
          <p:nvPr/>
        </p:nvSpPr>
        <p:spPr>
          <a:xfrm rot="0">
            <a:off x="1380287" y="8650491"/>
            <a:ext cx="302352" cy="495405"/>
          </a:xfrm>
          <a:prstGeom prst="rect">
            <a:avLst/>
          </a:prstGeom>
        </p:spPr>
        <p:txBody>
          <a:bodyPr anchor="t" rtlCol="false" tIns="0" lIns="0" bIns="0" rIns="0">
            <a:spAutoFit/>
          </a:bodyPr>
          <a:lstStyle/>
          <a:p>
            <a:pPr algn="l">
              <a:lnSpc>
                <a:spcPts val="3918"/>
              </a:lnSpc>
            </a:pPr>
            <a:r>
              <a:rPr lang="en-US" sz="2798">
                <a:solidFill>
                  <a:srgbClr val="000000"/>
                </a:solidFill>
                <a:latin typeface="Arimo"/>
                <a:ea typeface="Arimo"/>
                <a:cs typeface="Arimo"/>
                <a:sym typeface="Arimo"/>
              </a:rPr>
              <a:t>4.</a:t>
            </a:r>
          </a:p>
        </p:txBody>
      </p:sp>
      <p:sp>
        <p:nvSpPr>
          <p:cNvPr name="TextBox 17" id="17"/>
          <p:cNvSpPr txBox="true"/>
          <p:nvPr/>
        </p:nvSpPr>
        <p:spPr>
          <a:xfrm rot="0">
            <a:off x="2295506" y="3341094"/>
            <a:ext cx="5855951" cy="834733"/>
          </a:xfrm>
          <a:prstGeom prst="rect">
            <a:avLst/>
          </a:prstGeom>
        </p:spPr>
        <p:txBody>
          <a:bodyPr anchor="t" rtlCol="false" tIns="0" lIns="0" bIns="0" rIns="0">
            <a:spAutoFit/>
          </a:bodyPr>
          <a:lstStyle/>
          <a:p>
            <a:pPr algn="l">
              <a:lnSpc>
                <a:spcPts val="3300"/>
              </a:lnSpc>
            </a:pPr>
            <a:r>
              <a:rPr lang="en-US" sz="2398">
                <a:solidFill>
                  <a:srgbClr val="000000"/>
                </a:solidFill>
                <a:latin typeface="Times New Roman"/>
                <a:ea typeface="Times New Roman"/>
                <a:cs typeface="Times New Roman"/>
                <a:sym typeface="Times New Roman"/>
              </a:rPr>
              <a:t>Privacy Preservation In Artificial Intelligence - Enabled Healthcare Analytics</a:t>
            </a:r>
          </a:p>
        </p:txBody>
      </p:sp>
      <p:sp>
        <p:nvSpPr>
          <p:cNvPr name="TextBox 18" id="18"/>
          <p:cNvSpPr txBox="true"/>
          <p:nvPr/>
        </p:nvSpPr>
        <p:spPr>
          <a:xfrm rot="0">
            <a:off x="2295506" y="5191068"/>
            <a:ext cx="6080874" cy="834733"/>
          </a:xfrm>
          <a:prstGeom prst="rect">
            <a:avLst/>
          </a:prstGeom>
        </p:spPr>
        <p:txBody>
          <a:bodyPr anchor="t" rtlCol="false" tIns="0" lIns="0" bIns="0" rIns="0">
            <a:spAutoFit/>
          </a:bodyPr>
          <a:lstStyle/>
          <a:p>
            <a:pPr algn="l">
              <a:lnSpc>
                <a:spcPts val="3300"/>
              </a:lnSpc>
            </a:pPr>
            <a:r>
              <a:rPr lang="en-US" sz="2398">
                <a:solidFill>
                  <a:srgbClr val="000000"/>
                </a:solidFill>
                <a:latin typeface="Times New Roman"/>
                <a:ea typeface="Times New Roman"/>
                <a:cs typeface="Times New Roman"/>
                <a:sym typeface="Times New Roman"/>
              </a:rPr>
              <a:t>Privacy - Preserving AI For Secure Data Sharing In Healthcare</a:t>
            </a:r>
          </a:p>
        </p:txBody>
      </p:sp>
      <p:sp>
        <p:nvSpPr>
          <p:cNvPr name="TextBox 19" id="19"/>
          <p:cNvSpPr txBox="true"/>
          <p:nvPr/>
        </p:nvSpPr>
        <p:spPr>
          <a:xfrm rot="0">
            <a:off x="8514236" y="3269132"/>
            <a:ext cx="2287191" cy="1403747"/>
          </a:xfrm>
          <a:prstGeom prst="rect">
            <a:avLst/>
          </a:prstGeom>
        </p:spPr>
        <p:txBody>
          <a:bodyPr anchor="t" rtlCol="false" tIns="0" lIns="0" bIns="0" rIns="0">
            <a:spAutoFit/>
          </a:bodyPr>
          <a:lstStyle/>
          <a:p>
            <a:pPr algn="l">
              <a:lnSpc>
                <a:spcPts val="2775"/>
              </a:lnSpc>
            </a:pPr>
            <a:r>
              <a:rPr lang="en-US" sz="1999">
                <a:solidFill>
                  <a:srgbClr val="000000"/>
                </a:solidFill>
                <a:latin typeface="Times New Roman"/>
                <a:ea typeface="Times New Roman"/>
                <a:cs typeface="Times New Roman"/>
                <a:sym typeface="Times New Roman"/>
              </a:rPr>
              <a:t>Shancang Li1* , Muddesar Iqbal2 , Ali Kashif Bashir3,5,6 and Xinheng Wang4 </a:t>
            </a:r>
          </a:p>
        </p:txBody>
      </p:sp>
      <p:sp>
        <p:nvSpPr>
          <p:cNvPr name="TextBox 20" id="20"/>
          <p:cNvSpPr txBox="true"/>
          <p:nvPr/>
        </p:nvSpPr>
        <p:spPr>
          <a:xfrm rot="0">
            <a:off x="11018215" y="3269209"/>
            <a:ext cx="3334588" cy="1403633"/>
          </a:xfrm>
          <a:prstGeom prst="rect">
            <a:avLst/>
          </a:prstGeom>
        </p:spPr>
        <p:txBody>
          <a:bodyPr anchor="t" rtlCol="false" tIns="0" lIns="0" bIns="0" rIns="0">
            <a:spAutoFit/>
          </a:bodyPr>
          <a:lstStyle/>
          <a:p>
            <a:pPr algn="l">
              <a:lnSpc>
                <a:spcPts val="2774"/>
              </a:lnSpc>
            </a:pPr>
            <a:r>
              <a:rPr lang="en-US" sz="1998">
                <a:solidFill>
                  <a:srgbClr val="000000"/>
                </a:solidFill>
                <a:latin typeface="Times New Roman"/>
                <a:ea typeface="Times New Roman"/>
                <a:cs typeface="Times New Roman"/>
                <a:sym typeface="Times New Roman"/>
              </a:rPr>
              <a:t>privacy-preserving methods improve secure data storage and controlled access in healthcare systems.</a:t>
            </a:r>
          </a:p>
        </p:txBody>
      </p:sp>
      <p:sp>
        <p:nvSpPr>
          <p:cNvPr name="TextBox 21" id="21"/>
          <p:cNvSpPr txBox="true"/>
          <p:nvPr/>
        </p:nvSpPr>
        <p:spPr>
          <a:xfrm rot="0">
            <a:off x="11018215" y="8195862"/>
            <a:ext cx="3335341" cy="1051208"/>
          </a:xfrm>
          <a:prstGeom prst="rect">
            <a:avLst/>
          </a:prstGeom>
        </p:spPr>
        <p:txBody>
          <a:bodyPr anchor="t" rtlCol="false" tIns="0" lIns="0" bIns="0" rIns="0">
            <a:spAutoFit/>
          </a:bodyPr>
          <a:lstStyle/>
          <a:p>
            <a:pPr algn="just">
              <a:lnSpc>
                <a:spcPts val="2774"/>
              </a:lnSpc>
            </a:pPr>
            <a:r>
              <a:rPr lang="en-US" sz="1998">
                <a:solidFill>
                  <a:srgbClr val="000000"/>
                </a:solidFill>
                <a:latin typeface="Times New Roman"/>
                <a:ea typeface="Times New Roman"/>
                <a:cs typeface="Times New Roman"/>
                <a:sym typeface="Times New Roman"/>
              </a:rPr>
              <a:t>combining security mechanisms with machine learning enhances reliable and safe healthcare</a:t>
            </a:r>
          </a:p>
        </p:txBody>
      </p:sp>
      <p:sp>
        <p:nvSpPr>
          <p:cNvPr name="TextBox 22" id="22"/>
          <p:cNvSpPr txBox="true"/>
          <p:nvPr/>
        </p:nvSpPr>
        <p:spPr>
          <a:xfrm rot="0">
            <a:off x="11018215" y="9253137"/>
            <a:ext cx="1214790" cy="346358"/>
          </a:xfrm>
          <a:prstGeom prst="rect">
            <a:avLst/>
          </a:prstGeom>
        </p:spPr>
        <p:txBody>
          <a:bodyPr anchor="t" rtlCol="false" tIns="0" lIns="0" bIns="0" rIns="0">
            <a:spAutoFit/>
          </a:bodyPr>
          <a:lstStyle/>
          <a:p>
            <a:pPr algn="l">
              <a:lnSpc>
                <a:spcPts val="2774"/>
              </a:lnSpc>
            </a:pPr>
            <a:r>
              <a:rPr lang="en-US" sz="1998">
                <a:solidFill>
                  <a:srgbClr val="000000"/>
                </a:solidFill>
                <a:latin typeface="Times New Roman"/>
                <a:ea typeface="Times New Roman"/>
                <a:cs typeface="Times New Roman"/>
                <a:sym typeface="Times New Roman"/>
              </a:rPr>
              <a:t>predictions.</a:t>
            </a:r>
          </a:p>
        </p:txBody>
      </p:sp>
      <p:sp>
        <p:nvSpPr>
          <p:cNvPr name="TextBox 23" id="23"/>
          <p:cNvSpPr txBox="true"/>
          <p:nvPr/>
        </p:nvSpPr>
        <p:spPr>
          <a:xfrm rot="0">
            <a:off x="14675101" y="3440659"/>
            <a:ext cx="2451316" cy="1051208"/>
          </a:xfrm>
          <a:prstGeom prst="rect">
            <a:avLst/>
          </a:prstGeom>
        </p:spPr>
        <p:txBody>
          <a:bodyPr anchor="t" rtlCol="false" tIns="0" lIns="0" bIns="0" rIns="0">
            <a:spAutoFit/>
          </a:bodyPr>
          <a:lstStyle/>
          <a:p>
            <a:pPr algn="l">
              <a:lnSpc>
                <a:spcPts val="2774"/>
              </a:lnSpc>
            </a:pPr>
            <a:r>
              <a:rPr lang="en-US" sz="1998">
                <a:solidFill>
                  <a:srgbClr val="000000"/>
                </a:solidFill>
                <a:latin typeface="Times New Roman"/>
                <a:ea typeface="Times New Roman"/>
                <a:cs typeface="Times New Roman"/>
                <a:sym typeface="Times New Roman"/>
              </a:rPr>
              <a:t>RESEARCH (Research Manuscript) Open Access</a:t>
            </a:r>
          </a:p>
        </p:txBody>
      </p:sp>
      <p:sp>
        <p:nvSpPr>
          <p:cNvPr name="TextBox 24" id="24"/>
          <p:cNvSpPr txBox="true"/>
          <p:nvPr/>
        </p:nvSpPr>
        <p:spPr>
          <a:xfrm rot="0">
            <a:off x="14675101" y="6639611"/>
            <a:ext cx="2508923" cy="1051208"/>
          </a:xfrm>
          <a:prstGeom prst="rect">
            <a:avLst/>
          </a:prstGeom>
        </p:spPr>
        <p:txBody>
          <a:bodyPr anchor="t" rtlCol="false" tIns="0" lIns="0" bIns="0" rIns="0">
            <a:spAutoFit/>
          </a:bodyPr>
          <a:lstStyle/>
          <a:p>
            <a:pPr algn="l">
              <a:lnSpc>
                <a:spcPts val="2774"/>
              </a:lnSpc>
            </a:pPr>
            <a:r>
              <a:rPr lang="en-US" sz="1998">
                <a:solidFill>
                  <a:srgbClr val="000000"/>
                </a:solidFill>
                <a:latin typeface="Times New Roman"/>
                <a:ea typeface="Times New Roman"/>
                <a:cs typeface="Times New Roman"/>
                <a:sym typeface="Times New Roman"/>
              </a:rPr>
              <a:t>University of Central Arkansas, Conway, AR, USA</a:t>
            </a:r>
          </a:p>
        </p:txBody>
      </p:sp>
      <p:sp>
        <p:nvSpPr>
          <p:cNvPr name="TextBox 25" id="25"/>
          <p:cNvSpPr txBox="true"/>
          <p:nvPr/>
        </p:nvSpPr>
        <p:spPr>
          <a:xfrm rot="0">
            <a:off x="14675101" y="8376837"/>
            <a:ext cx="2638492" cy="698783"/>
          </a:xfrm>
          <a:prstGeom prst="rect">
            <a:avLst/>
          </a:prstGeom>
        </p:spPr>
        <p:txBody>
          <a:bodyPr anchor="t" rtlCol="false" tIns="0" lIns="0" bIns="0" rIns="0">
            <a:spAutoFit/>
          </a:bodyPr>
          <a:lstStyle/>
          <a:p>
            <a:pPr algn="l">
              <a:lnSpc>
                <a:spcPts val="2774"/>
              </a:lnSpc>
            </a:pPr>
            <a:r>
              <a:rPr lang="en-US" sz="1998">
                <a:solidFill>
                  <a:srgbClr val="000000"/>
                </a:solidFill>
                <a:latin typeface="Times New Roman"/>
                <a:ea typeface="Times New Roman"/>
                <a:cs typeface="Times New Roman"/>
                <a:sym typeface="Times New Roman"/>
              </a:rPr>
              <a:t>ICLR 2023 Workshop on Trustworthy Machine</a:t>
            </a:r>
          </a:p>
        </p:txBody>
      </p:sp>
      <p:sp>
        <p:nvSpPr>
          <p:cNvPr name="TextBox 26" id="26"/>
          <p:cNvSpPr txBox="true"/>
          <p:nvPr/>
        </p:nvSpPr>
        <p:spPr>
          <a:xfrm rot="0">
            <a:off x="14675101" y="9081687"/>
            <a:ext cx="1300734" cy="346358"/>
          </a:xfrm>
          <a:prstGeom prst="rect">
            <a:avLst/>
          </a:prstGeom>
        </p:spPr>
        <p:txBody>
          <a:bodyPr anchor="t" rtlCol="false" tIns="0" lIns="0" bIns="0" rIns="0">
            <a:spAutoFit/>
          </a:bodyPr>
          <a:lstStyle/>
          <a:p>
            <a:pPr algn="l">
              <a:lnSpc>
                <a:spcPts val="2774"/>
              </a:lnSpc>
            </a:pPr>
            <a:r>
              <a:rPr lang="en-US" sz="1998">
                <a:solidFill>
                  <a:srgbClr val="000000"/>
                </a:solidFill>
                <a:latin typeface="Times New Roman"/>
                <a:ea typeface="Times New Roman"/>
                <a:cs typeface="Times New Roman"/>
                <a:sym typeface="Times New Roman"/>
              </a:rPr>
              <a:t>Learning for</a:t>
            </a:r>
          </a:p>
        </p:txBody>
      </p:sp>
      <p:sp>
        <p:nvSpPr>
          <p:cNvPr name="TextBox 27" id="27"/>
          <p:cNvSpPr txBox="true"/>
          <p:nvPr/>
        </p:nvSpPr>
        <p:spPr>
          <a:xfrm rot="0">
            <a:off x="14675101" y="5081083"/>
            <a:ext cx="2609174" cy="1051208"/>
          </a:xfrm>
          <a:prstGeom prst="rect">
            <a:avLst/>
          </a:prstGeom>
        </p:spPr>
        <p:txBody>
          <a:bodyPr anchor="t" rtlCol="false" tIns="0" lIns="0" bIns="0" rIns="0">
            <a:spAutoFit/>
          </a:bodyPr>
          <a:lstStyle/>
          <a:p>
            <a:pPr algn="just">
              <a:lnSpc>
                <a:spcPts val="2774"/>
              </a:lnSpc>
            </a:pPr>
            <a:r>
              <a:rPr lang="en-US" sz="1998">
                <a:solidFill>
                  <a:srgbClr val="000000"/>
                </a:solidFill>
                <a:latin typeface="Times New Roman"/>
                <a:ea typeface="Times New Roman"/>
                <a:cs typeface="Times New Roman"/>
                <a:sym typeface="Times New Roman"/>
              </a:rPr>
              <a:t>Journal of Recent Trends in Computer Science and Engineering (JRTCSE) </a:t>
            </a:r>
          </a:p>
        </p:txBody>
      </p:sp>
      <p:sp>
        <p:nvSpPr>
          <p:cNvPr name="TextBox 28" id="28"/>
          <p:cNvSpPr txBox="true"/>
          <p:nvPr/>
        </p:nvSpPr>
        <p:spPr>
          <a:xfrm rot="0">
            <a:off x="8514236" y="5212232"/>
            <a:ext cx="2222278" cy="776335"/>
          </a:xfrm>
          <a:prstGeom prst="rect">
            <a:avLst/>
          </a:prstGeom>
        </p:spPr>
        <p:txBody>
          <a:bodyPr anchor="t" rtlCol="false" tIns="0" lIns="0" bIns="0" rIns="0">
            <a:spAutoFit/>
          </a:bodyPr>
          <a:lstStyle/>
          <a:p>
            <a:pPr algn="l">
              <a:lnSpc>
                <a:spcPts val="3074"/>
              </a:lnSpc>
            </a:pPr>
            <a:r>
              <a:rPr lang="en-US" sz="2198">
                <a:solidFill>
                  <a:srgbClr val="000000"/>
                </a:solidFill>
                <a:latin typeface="Times New Roman"/>
                <a:ea typeface="Times New Roman"/>
                <a:cs typeface="Times New Roman"/>
                <a:sym typeface="Times New Roman"/>
              </a:rPr>
              <a:t>Rajashekhar Reddy Kethireddy</a:t>
            </a:r>
          </a:p>
        </p:txBody>
      </p:sp>
      <p:sp>
        <p:nvSpPr>
          <p:cNvPr name="TextBox 29" id="29"/>
          <p:cNvSpPr txBox="true"/>
          <p:nvPr/>
        </p:nvSpPr>
        <p:spPr>
          <a:xfrm rot="0">
            <a:off x="11018215" y="4968983"/>
            <a:ext cx="3414160" cy="1259405"/>
          </a:xfrm>
          <a:prstGeom prst="rect">
            <a:avLst/>
          </a:prstGeom>
        </p:spPr>
        <p:txBody>
          <a:bodyPr anchor="t" rtlCol="false" tIns="0" lIns="0" bIns="0" rIns="0">
            <a:spAutoFit/>
          </a:bodyPr>
          <a:lstStyle/>
          <a:p>
            <a:pPr algn="l">
              <a:lnSpc>
                <a:spcPts val="2474"/>
              </a:lnSpc>
            </a:pPr>
            <a:r>
              <a:rPr lang="en-US" sz="1798">
                <a:solidFill>
                  <a:srgbClr val="000000"/>
                </a:solidFill>
                <a:latin typeface="Times New Roman"/>
                <a:ea typeface="Times New Roman"/>
                <a:cs typeface="Times New Roman"/>
                <a:sym typeface="Times New Roman"/>
              </a:rPr>
              <a:t>encryption-based privacy techniques can securely enable healthcare data analysis without compromising patient confidentiality</a:t>
            </a:r>
          </a:p>
        </p:txBody>
      </p:sp>
      <p:sp>
        <p:nvSpPr>
          <p:cNvPr name="TextBox 30" id="30"/>
          <p:cNvSpPr txBox="true"/>
          <p:nvPr/>
        </p:nvSpPr>
        <p:spPr>
          <a:xfrm rot="0">
            <a:off x="11018215" y="6337011"/>
            <a:ext cx="3271809" cy="1449905"/>
          </a:xfrm>
          <a:prstGeom prst="rect">
            <a:avLst/>
          </a:prstGeom>
        </p:spPr>
        <p:txBody>
          <a:bodyPr anchor="t" rtlCol="false" tIns="0" lIns="0" bIns="0" rIns="0">
            <a:spAutoFit/>
          </a:bodyPr>
          <a:lstStyle/>
          <a:p>
            <a:pPr algn="l">
              <a:lnSpc>
                <a:spcPts val="4496"/>
              </a:lnSpc>
            </a:pPr>
            <a:r>
              <a:rPr lang="en-US" sz="1798">
                <a:solidFill>
                  <a:srgbClr val="000000"/>
                </a:solidFill>
                <a:latin typeface="Times New Roman"/>
                <a:ea typeface="Times New Roman"/>
                <a:cs typeface="Times New Roman"/>
                <a:sym typeface="Times New Roman"/>
              </a:rPr>
              <a:t>encrypted data can be effectively</a:t>
            </a:r>
          </a:p>
          <a:p>
            <a:pPr algn="l">
              <a:lnSpc>
                <a:spcPts val="899"/>
              </a:lnSpc>
            </a:pPr>
            <a:r>
              <a:rPr lang="en-US" sz="1798">
                <a:solidFill>
                  <a:srgbClr val="000000"/>
                </a:solidFill>
                <a:latin typeface="Times New Roman"/>
                <a:ea typeface="Times New Roman"/>
                <a:cs typeface="Times New Roman"/>
                <a:sym typeface="Times New Roman"/>
              </a:rPr>
              <a:t>used in advanced machine learning</a:t>
            </a:r>
          </a:p>
          <a:p>
            <a:pPr algn="l">
              <a:lnSpc>
                <a:spcPts val="4050"/>
              </a:lnSpc>
            </a:pPr>
            <a:r>
              <a:rPr lang="en-US" sz="1798">
                <a:solidFill>
                  <a:srgbClr val="000000"/>
                </a:solidFill>
                <a:latin typeface="Times New Roman"/>
                <a:ea typeface="Times New Roman"/>
                <a:cs typeface="Times New Roman"/>
                <a:sym typeface="Times New Roman"/>
              </a:rPr>
              <a:t>models while maintaining high</a:t>
            </a:r>
          </a:p>
          <a:p>
            <a:pPr algn="l">
              <a:lnSpc>
                <a:spcPts val="899"/>
              </a:lnSpc>
            </a:pPr>
            <a:r>
              <a:rPr lang="en-US" sz="1798">
                <a:solidFill>
                  <a:srgbClr val="000000"/>
                </a:solidFill>
                <a:latin typeface="Times New Roman"/>
                <a:ea typeface="Times New Roman"/>
                <a:cs typeface="Times New Roman"/>
                <a:sym typeface="Times New Roman"/>
              </a:rPr>
              <a:t>privacy and accuracy.</a:t>
            </a:r>
          </a:p>
        </p:txBody>
      </p:sp>
      <p:sp>
        <p:nvSpPr>
          <p:cNvPr name="TextBox 31" id="31"/>
          <p:cNvSpPr txBox="true"/>
          <p:nvPr/>
        </p:nvSpPr>
        <p:spPr>
          <a:xfrm rot="0">
            <a:off x="2295506" y="8277111"/>
            <a:ext cx="5257752" cy="834952"/>
          </a:xfrm>
          <a:prstGeom prst="rect">
            <a:avLst/>
          </a:prstGeom>
        </p:spPr>
        <p:txBody>
          <a:bodyPr anchor="t" rtlCol="false" tIns="0" lIns="0" bIns="0" rIns="0">
            <a:spAutoFit/>
          </a:bodyPr>
          <a:lstStyle/>
          <a:p>
            <a:pPr algn="l">
              <a:lnSpc>
                <a:spcPts val="3300"/>
              </a:lnSpc>
            </a:pPr>
            <a:r>
              <a:rPr lang="en-US" sz="2400">
                <a:solidFill>
                  <a:srgbClr val="000000"/>
                </a:solidFill>
                <a:latin typeface="Times New Roman"/>
                <a:ea typeface="Times New Roman"/>
                <a:cs typeface="Times New Roman"/>
                <a:sym typeface="Times New Roman"/>
              </a:rPr>
              <a:t>Privacy-Preserving Machine Learning For Healthcare: Open Challenges And Future</a:t>
            </a:r>
          </a:p>
        </p:txBody>
      </p:sp>
      <p:sp>
        <p:nvSpPr>
          <p:cNvPr name="TextBox 32" id="32"/>
          <p:cNvSpPr txBox="true"/>
          <p:nvPr/>
        </p:nvSpPr>
        <p:spPr>
          <a:xfrm rot="0">
            <a:off x="2295506" y="9115311"/>
            <a:ext cx="1554023" cy="415852"/>
          </a:xfrm>
          <a:prstGeom prst="rect">
            <a:avLst/>
          </a:prstGeom>
        </p:spPr>
        <p:txBody>
          <a:bodyPr anchor="t" rtlCol="false" tIns="0" lIns="0" bIns="0" rIns="0">
            <a:spAutoFit/>
          </a:bodyPr>
          <a:lstStyle/>
          <a:p>
            <a:pPr algn="l">
              <a:lnSpc>
                <a:spcPts val="3300"/>
              </a:lnSpc>
            </a:pPr>
            <a:r>
              <a:rPr lang="en-US" sz="2400">
                <a:solidFill>
                  <a:srgbClr val="000000"/>
                </a:solidFill>
                <a:latin typeface="Times New Roman"/>
                <a:ea typeface="Times New Roman"/>
                <a:cs typeface="Times New Roman"/>
                <a:sym typeface="Times New Roman"/>
              </a:rPr>
              <a:t>Perspectives</a:t>
            </a:r>
          </a:p>
        </p:txBody>
      </p:sp>
      <p:sp>
        <p:nvSpPr>
          <p:cNvPr name="TextBox 33" id="33"/>
          <p:cNvSpPr txBox="true"/>
          <p:nvPr/>
        </p:nvSpPr>
        <p:spPr>
          <a:xfrm rot="0">
            <a:off x="2295506" y="6758959"/>
            <a:ext cx="6009037" cy="834952"/>
          </a:xfrm>
          <a:prstGeom prst="rect">
            <a:avLst/>
          </a:prstGeom>
        </p:spPr>
        <p:txBody>
          <a:bodyPr anchor="t" rtlCol="false" tIns="0" lIns="0" bIns="0" rIns="0">
            <a:spAutoFit/>
          </a:bodyPr>
          <a:lstStyle/>
          <a:p>
            <a:pPr algn="l">
              <a:lnSpc>
                <a:spcPts val="3300"/>
              </a:lnSpc>
            </a:pPr>
            <a:r>
              <a:rPr lang="en-US" sz="2400">
                <a:solidFill>
                  <a:srgbClr val="000000"/>
                </a:solidFill>
                <a:latin typeface="Times New Roman"/>
                <a:ea typeface="Times New Roman"/>
                <a:cs typeface="Times New Roman"/>
                <a:sym typeface="Times New Roman"/>
              </a:rPr>
              <a:t>AI- Driven Secure Data Sharing: A Trustworthy And Privacy - Preserving Approach</a:t>
            </a:r>
          </a:p>
        </p:txBody>
      </p:sp>
      <p:sp>
        <p:nvSpPr>
          <p:cNvPr name="TextBox 34" id="34"/>
          <p:cNvSpPr txBox="true"/>
          <p:nvPr/>
        </p:nvSpPr>
        <p:spPr>
          <a:xfrm rot="0">
            <a:off x="8514236" y="6748701"/>
            <a:ext cx="730510" cy="143742"/>
          </a:xfrm>
          <a:prstGeom prst="rect">
            <a:avLst/>
          </a:prstGeom>
        </p:spPr>
        <p:txBody>
          <a:bodyPr anchor="t" rtlCol="false" tIns="0" lIns="0" bIns="0" rIns="0">
            <a:spAutoFit/>
          </a:bodyPr>
          <a:lstStyle/>
          <a:p>
            <a:pPr algn="l">
              <a:lnSpc>
                <a:spcPts val="799"/>
              </a:lnSpc>
            </a:pPr>
            <a:r>
              <a:rPr lang="en-US" sz="1598">
                <a:solidFill>
                  <a:srgbClr val="000000"/>
                </a:solidFill>
                <a:latin typeface="Times New Roman"/>
                <a:ea typeface="Times New Roman"/>
                <a:cs typeface="Times New Roman"/>
                <a:sym typeface="Times New Roman"/>
              </a:rPr>
              <a:t>Al Amin</a:t>
            </a:r>
          </a:p>
        </p:txBody>
      </p:sp>
      <p:sp>
        <p:nvSpPr>
          <p:cNvPr name="TextBox 35" id="35"/>
          <p:cNvSpPr txBox="true"/>
          <p:nvPr/>
        </p:nvSpPr>
        <p:spPr>
          <a:xfrm rot="0">
            <a:off x="9230382" y="6748139"/>
            <a:ext cx="1564119" cy="212160"/>
          </a:xfrm>
          <a:prstGeom prst="rect">
            <a:avLst/>
          </a:prstGeom>
        </p:spPr>
        <p:txBody>
          <a:bodyPr anchor="t" rtlCol="false" tIns="0" lIns="0" bIns="0" rIns="0">
            <a:spAutoFit/>
          </a:bodyPr>
          <a:lstStyle/>
          <a:p>
            <a:pPr algn="l">
              <a:lnSpc>
                <a:spcPts val="799"/>
              </a:lnSpc>
            </a:pPr>
            <a:r>
              <a:rPr lang="en-US" sz="1598">
                <a:solidFill>
                  <a:srgbClr val="000000"/>
                </a:solidFill>
                <a:latin typeface="Times New Roman"/>
                <a:ea typeface="Times New Roman"/>
                <a:cs typeface="Times New Roman"/>
                <a:sym typeface="Times New Roman"/>
              </a:rPr>
              <a:t>∗ , Kamrul Hasan∗</a:t>
            </a:r>
          </a:p>
        </p:txBody>
      </p:sp>
      <p:sp>
        <p:nvSpPr>
          <p:cNvPr name="TextBox 36" id="36"/>
          <p:cNvSpPr txBox="true"/>
          <p:nvPr/>
        </p:nvSpPr>
        <p:spPr>
          <a:xfrm rot="0">
            <a:off x="8514236" y="6758226"/>
            <a:ext cx="1863185" cy="410442"/>
          </a:xfrm>
          <a:prstGeom prst="rect">
            <a:avLst/>
          </a:prstGeom>
        </p:spPr>
        <p:txBody>
          <a:bodyPr anchor="t" rtlCol="false" tIns="0" lIns="0" bIns="0" rIns="0">
            <a:spAutoFit/>
          </a:bodyPr>
          <a:lstStyle/>
          <a:p>
            <a:pPr algn="l">
              <a:lnSpc>
                <a:spcPts val="3549"/>
              </a:lnSpc>
            </a:pPr>
            <a:r>
              <a:rPr lang="en-US" sz="1598">
                <a:solidFill>
                  <a:srgbClr val="000000"/>
                </a:solidFill>
                <a:latin typeface="Times New Roman"/>
                <a:ea typeface="Times New Roman"/>
                <a:cs typeface="Times New Roman"/>
                <a:sym typeface="Times New Roman"/>
              </a:rPr>
              <a:t>, Sharif Ullah† , Liang</a:t>
            </a:r>
          </a:p>
        </p:txBody>
      </p:sp>
      <p:sp>
        <p:nvSpPr>
          <p:cNvPr name="TextBox 37" id="37"/>
          <p:cNvSpPr txBox="true"/>
          <p:nvPr/>
        </p:nvSpPr>
        <p:spPr>
          <a:xfrm rot="0">
            <a:off x="8514236" y="7301151"/>
            <a:ext cx="460162" cy="143742"/>
          </a:xfrm>
          <a:prstGeom prst="rect">
            <a:avLst/>
          </a:prstGeom>
        </p:spPr>
        <p:txBody>
          <a:bodyPr anchor="t" rtlCol="false" tIns="0" lIns="0" bIns="0" rIns="0">
            <a:spAutoFit/>
          </a:bodyPr>
          <a:lstStyle/>
          <a:p>
            <a:pPr algn="l">
              <a:lnSpc>
                <a:spcPts val="799"/>
              </a:lnSpc>
            </a:pPr>
            <a:r>
              <a:rPr lang="en-US" sz="1598">
                <a:solidFill>
                  <a:srgbClr val="000000"/>
                </a:solidFill>
                <a:latin typeface="Times New Roman"/>
                <a:ea typeface="Times New Roman"/>
                <a:cs typeface="Times New Roman"/>
                <a:sym typeface="Times New Roman"/>
              </a:rPr>
              <a:t>Hong</a:t>
            </a:r>
          </a:p>
        </p:txBody>
      </p:sp>
      <p:sp>
        <p:nvSpPr>
          <p:cNvPr name="TextBox 38" id="38"/>
          <p:cNvSpPr txBox="true"/>
          <p:nvPr/>
        </p:nvSpPr>
        <p:spPr>
          <a:xfrm rot="0">
            <a:off x="8965340" y="7300589"/>
            <a:ext cx="1586970" cy="212160"/>
          </a:xfrm>
          <a:prstGeom prst="rect">
            <a:avLst/>
          </a:prstGeom>
        </p:spPr>
        <p:txBody>
          <a:bodyPr anchor="t" rtlCol="false" tIns="0" lIns="0" bIns="0" rIns="0">
            <a:spAutoFit/>
          </a:bodyPr>
          <a:lstStyle/>
          <a:p>
            <a:pPr algn="l">
              <a:lnSpc>
                <a:spcPts val="799"/>
              </a:lnSpc>
            </a:pPr>
            <a:r>
              <a:rPr lang="en-US" sz="1598">
                <a:solidFill>
                  <a:srgbClr val="000000"/>
                </a:solidFill>
                <a:latin typeface="Times New Roman"/>
                <a:ea typeface="Times New Roman"/>
                <a:cs typeface="Times New Roman"/>
                <a:sym typeface="Times New Roman"/>
              </a:rPr>
              <a:t>∗ ∗Tennessee State</a:t>
            </a:r>
          </a:p>
        </p:txBody>
      </p:sp>
      <p:sp>
        <p:nvSpPr>
          <p:cNvPr name="TextBox 39" id="39"/>
          <p:cNvSpPr txBox="true"/>
          <p:nvPr/>
        </p:nvSpPr>
        <p:spPr>
          <a:xfrm rot="0">
            <a:off x="8514236" y="7310676"/>
            <a:ext cx="1823342" cy="410442"/>
          </a:xfrm>
          <a:prstGeom prst="rect">
            <a:avLst/>
          </a:prstGeom>
        </p:spPr>
        <p:txBody>
          <a:bodyPr anchor="t" rtlCol="false" tIns="0" lIns="0" bIns="0" rIns="0">
            <a:spAutoFit/>
          </a:bodyPr>
          <a:lstStyle/>
          <a:p>
            <a:pPr algn="l">
              <a:lnSpc>
                <a:spcPts val="3549"/>
              </a:lnSpc>
            </a:pPr>
            <a:r>
              <a:rPr lang="en-US" sz="1598">
                <a:solidFill>
                  <a:srgbClr val="000000"/>
                </a:solidFill>
                <a:latin typeface="Times New Roman"/>
                <a:ea typeface="Times New Roman"/>
                <a:cs typeface="Times New Roman"/>
                <a:sym typeface="Times New Roman"/>
              </a:rPr>
              <a:t>University, TN, USA </a:t>
            </a:r>
          </a:p>
        </p:txBody>
      </p:sp>
      <p:sp>
        <p:nvSpPr>
          <p:cNvPr name="TextBox 40" id="40"/>
          <p:cNvSpPr txBox="true"/>
          <p:nvPr/>
        </p:nvSpPr>
        <p:spPr>
          <a:xfrm rot="0">
            <a:off x="8514236" y="8054045"/>
            <a:ext cx="1809388" cy="340976"/>
          </a:xfrm>
          <a:prstGeom prst="rect">
            <a:avLst/>
          </a:prstGeom>
        </p:spPr>
        <p:txBody>
          <a:bodyPr anchor="t" rtlCol="false" tIns="0" lIns="0" bIns="0" rIns="0">
            <a:spAutoFit/>
          </a:bodyPr>
          <a:lstStyle/>
          <a:p>
            <a:pPr algn="l">
              <a:lnSpc>
                <a:spcPts val="2624"/>
              </a:lnSpc>
            </a:pPr>
            <a:r>
              <a:rPr lang="en-US" sz="1898">
                <a:solidFill>
                  <a:srgbClr val="000000"/>
                </a:solidFill>
                <a:latin typeface="Times New Roman"/>
                <a:ea typeface="Times New Roman"/>
                <a:cs typeface="Times New Roman"/>
                <a:sym typeface="Times New Roman"/>
              </a:rPr>
              <a:t>Alejandro Guerra-</a:t>
            </a:r>
          </a:p>
        </p:txBody>
      </p:sp>
      <p:sp>
        <p:nvSpPr>
          <p:cNvPr name="TextBox 41" id="41"/>
          <p:cNvSpPr txBox="true"/>
          <p:nvPr/>
        </p:nvSpPr>
        <p:spPr>
          <a:xfrm rot="0">
            <a:off x="8514236" y="8387420"/>
            <a:ext cx="1187977" cy="340976"/>
          </a:xfrm>
          <a:prstGeom prst="rect">
            <a:avLst/>
          </a:prstGeom>
        </p:spPr>
        <p:txBody>
          <a:bodyPr anchor="t" rtlCol="false" tIns="0" lIns="0" bIns="0" rIns="0">
            <a:spAutoFit/>
          </a:bodyPr>
          <a:lstStyle/>
          <a:p>
            <a:pPr algn="l">
              <a:lnSpc>
                <a:spcPts val="2624"/>
              </a:lnSpc>
            </a:pPr>
            <a:r>
              <a:rPr lang="en-US" sz="1898">
                <a:solidFill>
                  <a:srgbClr val="000000"/>
                </a:solidFill>
                <a:latin typeface="Times New Roman"/>
                <a:ea typeface="Times New Roman"/>
                <a:cs typeface="Times New Roman"/>
                <a:sym typeface="Times New Roman"/>
              </a:rPr>
              <a:t>Manzanares</a:t>
            </a:r>
          </a:p>
        </p:txBody>
      </p:sp>
      <p:sp>
        <p:nvSpPr>
          <p:cNvPr name="TextBox 42" id="42"/>
          <p:cNvSpPr txBox="true"/>
          <p:nvPr/>
        </p:nvSpPr>
        <p:spPr>
          <a:xfrm rot="0">
            <a:off x="9678886" y="8548678"/>
            <a:ext cx="1168051" cy="260309"/>
          </a:xfrm>
          <a:prstGeom prst="rect">
            <a:avLst/>
          </a:prstGeom>
        </p:spPr>
        <p:txBody>
          <a:bodyPr anchor="t" rtlCol="false" tIns="0" lIns="0" bIns="0" rIns="0">
            <a:spAutoFit/>
          </a:bodyPr>
          <a:lstStyle/>
          <a:p>
            <a:pPr algn="l">
              <a:lnSpc>
                <a:spcPts val="949"/>
              </a:lnSpc>
            </a:pPr>
            <a:r>
              <a:rPr lang="en-US" sz="1898">
                <a:solidFill>
                  <a:srgbClr val="000000"/>
                </a:solidFill>
                <a:latin typeface="Times New Roman"/>
                <a:ea typeface="Times New Roman"/>
                <a:cs typeface="Times New Roman"/>
                <a:sym typeface="Times New Roman"/>
              </a:rPr>
              <a:t>∗ , L. Julian</a:t>
            </a:r>
          </a:p>
        </p:txBody>
      </p:sp>
      <p:sp>
        <p:nvSpPr>
          <p:cNvPr name="TextBox 43" id="43"/>
          <p:cNvSpPr txBox="true"/>
          <p:nvPr/>
        </p:nvSpPr>
        <p:spPr>
          <a:xfrm rot="0">
            <a:off x="8514236" y="8558870"/>
            <a:ext cx="1768431" cy="502901"/>
          </a:xfrm>
          <a:prstGeom prst="rect">
            <a:avLst/>
          </a:prstGeom>
        </p:spPr>
        <p:txBody>
          <a:bodyPr anchor="t" rtlCol="false" tIns="0" lIns="0" bIns="0" rIns="0">
            <a:spAutoFit/>
          </a:bodyPr>
          <a:lstStyle/>
          <a:p>
            <a:pPr algn="l">
              <a:lnSpc>
                <a:spcPts val="4301"/>
              </a:lnSpc>
            </a:pPr>
            <a:r>
              <a:rPr lang="en-US" sz="1898">
                <a:solidFill>
                  <a:srgbClr val="000000"/>
                </a:solidFill>
                <a:latin typeface="Times New Roman"/>
                <a:ea typeface="Times New Roman"/>
                <a:cs typeface="Times New Roman"/>
                <a:sym typeface="Times New Roman"/>
              </a:rPr>
              <a:t>Lechuga Lopez ,</a:t>
            </a:r>
          </a:p>
        </p:txBody>
      </p:sp>
      <p:sp>
        <p:nvSpPr>
          <p:cNvPr name="TextBox 44" id="44"/>
          <p:cNvSpPr txBox="true"/>
          <p:nvPr/>
        </p:nvSpPr>
        <p:spPr>
          <a:xfrm rot="0">
            <a:off x="8514236" y="9216095"/>
            <a:ext cx="1973780" cy="179051"/>
          </a:xfrm>
          <a:prstGeom prst="rect">
            <a:avLst/>
          </a:prstGeom>
        </p:spPr>
        <p:txBody>
          <a:bodyPr anchor="t" rtlCol="false" tIns="0" lIns="0" bIns="0" rIns="0">
            <a:spAutoFit/>
          </a:bodyPr>
          <a:lstStyle/>
          <a:p>
            <a:pPr algn="l">
              <a:lnSpc>
                <a:spcPts val="949"/>
              </a:lnSpc>
            </a:pPr>
            <a:r>
              <a:rPr lang="en-US" sz="1898">
                <a:solidFill>
                  <a:srgbClr val="000000"/>
                </a:solidFill>
                <a:latin typeface="Times New Roman"/>
                <a:ea typeface="Times New Roman"/>
                <a:cs typeface="Times New Roman"/>
                <a:sym typeface="Times New Roman"/>
              </a:rPr>
              <a:t>Michail Maniatakos</a:t>
            </a:r>
          </a:p>
        </p:txBody>
      </p:sp>
      <p:sp>
        <p:nvSpPr>
          <p:cNvPr name="TextBox 45" id="45"/>
          <p:cNvSpPr txBox="true"/>
          <p:nvPr/>
        </p:nvSpPr>
        <p:spPr>
          <a:xfrm rot="0">
            <a:off x="8514236" y="9225620"/>
            <a:ext cx="2185597" cy="502901"/>
          </a:xfrm>
          <a:prstGeom prst="rect">
            <a:avLst/>
          </a:prstGeom>
        </p:spPr>
        <p:txBody>
          <a:bodyPr anchor="t" rtlCol="false" tIns="0" lIns="0" bIns="0" rIns="0">
            <a:spAutoFit/>
          </a:bodyPr>
          <a:lstStyle/>
          <a:p>
            <a:pPr algn="l">
              <a:lnSpc>
                <a:spcPts val="4301"/>
              </a:lnSpc>
            </a:pPr>
            <a:r>
              <a:rPr lang="en-US" sz="1898">
                <a:solidFill>
                  <a:srgbClr val="000000"/>
                </a:solidFill>
                <a:latin typeface="Times New Roman"/>
                <a:ea typeface="Times New Roman"/>
                <a:cs typeface="Times New Roman"/>
                <a:sym typeface="Times New Roman"/>
              </a:rPr>
              <a:t>andFarah E.Shamout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012448" y="712280"/>
            <a:ext cx="2015623" cy="1659160"/>
            <a:chOff x="0" y="0"/>
            <a:chExt cx="2687498"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Freeform 4" id="4"/>
          <p:cNvSpPr/>
          <p:nvPr/>
        </p:nvSpPr>
        <p:spPr>
          <a:xfrm flipH="false" flipV="false" rot="0">
            <a:off x="3607253" y="2330510"/>
            <a:ext cx="10075289" cy="6716860"/>
          </a:xfrm>
          <a:custGeom>
            <a:avLst/>
            <a:gdLst/>
            <a:ahLst/>
            <a:cxnLst/>
            <a:rect r="r" b="b" t="t" l="l"/>
            <a:pathLst>
              <a:path h="6716860" w="10075289">
                <a:moveTo>
                  <a:pt x="0" y="0"/>
                </a:moveTo>
                <a:lnTo>
                  <a:pt x="10075289" y="0"/>
                </a:lnTo>
                <a:lnTo>
                  <a:pt x="10075289" y="6716859"/>
                </a:lnTo>
                <a:lnTo>
                  <a:pt x="0" y="6716859"/>
                </a:lnTo>
                <a:lnTo>
                  <a:pt x="0" y="0"/>
                </a:lnTo>
                <a:close/>
              </a:path>
            </a:pathLst>
          </a:custGeom>
          <a:blipFill>
            <a:blip r:embed="rId3"/>
            <a:stretch>
              <a:fillRect l="0" t="0" r="0" b="0"/>
            </a:stretch>
          </a:blipFill>
        </p:spPr>
      </p:sp>
      <p:sp>
        <p:nvSpPr>
          <p:cNvPr name="TextBox 5" id="5"/>
          <p:cNvSpPr txBox="true"/>
          <p:nvPr/>
        </p:nvSpPr>
        <p:spPr>
          <a:xfrm rot="0">
            <a:off x="7693571" y="9405804"/>
            <a:ext cx="3402854"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DEPARTMENT OF CSE</a:t>
            </a:r>
          </a:p>
        </p:txBody>
      </p:sp>
      <p:sp>
        <p:nvSpPr>
          <p:cNvPr name="TextBox 6" id="6"/>
          <p:cNvSpPr txBox="true"/>
          <p:nvPr/>
        </p:nvSpPr>
        <p:spPr>
          <a:xfrm rot="0">
            <a:off x="15973292" y="9341072"/>
            <a:ext cx="155448"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7</a:t>
            </a:r>
          </a:p>
        </p:txBody>
      </p:sp>
      <p:sp>
        <p:nvSpPr>
          <p:cNvPr name="TextBox 7" id="7"/>
          <p:cNvSpPr txBox="true"/>
          <p:nvPr/>
        </p:nvSpPr>
        <p:spPr>
          <a:xfrm rot="0">
            <a:off x="1257300" y="1191939"/>
            <a:ext cx="5267792" cy="722986"/>
          </a:xfrm>
          <a:prstGeom prst="rect">
            <a:avLst/>
          </a:prstGeom>
        </p:spPr>
        <p:txBody>
          <a:bodyPr anchor="t" rtlCol="false" tIns="0" lIns="0" bIns="0" rIns="0">
            <a:spAutoFit/>
          </a:bodyPr>
          <a:lstStyle/>
          <a:p>
            <a:pPr algn="l">
              <a:lnSpc>
                <a:spcPts val="5880"/>
              </a:lnSpc>
            </a:pPr>
            <a:r>
              <a:rPr lang="en-US" b="true" sz="4200">
                <a:solidFill>
                  <a:srgbClr val="000000"/>
                </a:solidFill>
                <a:latin typeface="Times New Roman Bold"/>
                <a:ea typeface="Times New Roman Bold"/>
                <a:cs typeface="Times New Roman Bold"/>
                <a:sym typeface="Times New Roman Bold"/>
              </a:rPr>
              <a:t>Architecture Diagram:</a:t>
            </a:r>
          </a:p>
        </p:txBody>
      </p:sp>
      <p:sp>
        <p:nvSpPr>
          <p:cNvPr name="TextBox 8" id="8"/>
          <p:cNvSpPr txBox="true"/>
          <p:nvPr/>
        </p:nvSpPr>
        <p:spPr>
          <a:xfrm rot="0">
            <a:off x="1257300" y="9289271"/>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968051" y="1957388"/>
            <a:ext cx="2015614" cy="1659160"/>
            <a:chOff x="0" y="0"/>
            <a:chExt cx="2687485"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TextBox 4" id="4"/>
          <p:cNvSpPr txBox="true"/>
          <p:nvPr/>
        </p:nvSpPr>
        <p:spPr>
          <a:xfrm rot="0">
            <a:off x="1539874" y="2055447"/>
            <a:ext cx="4578251" cy="731520"/>
          </a:xfrm>
          <a:prstGeom prst="rect">
            <a:avLst/>
          </a:prstGeom>
        </p:spPr>
        <p:txBody>
          <a:bodyPr anchor="t" rtlCol="false" tIns="0" lIns="0" bIns="0" rIns="0">
            <a:spAutoFit/>
          </a:bodyPr>
          <a:lstStyle/>
          <a:p>
            <a:pPr algn="l">
              <a:lnSpc>
                <a:spcPts val="5880"/>
              </a:lnSpc>
            </a:pPr>
            <a:r>
              <a:rPr lang="en-US" b="true" sz="4200">
                <a:solidFill>
                  <a:srgbClr val="000000"/>
                </a:solidFill>
                <a:latin typeface="Times New Roman Bold"/>
                <a:ea typeface="Times New Roman Bold"/>
                <a:cs typeface="Times New Roman Bold"/>
                <a:sym typeface="Times New Roman Bold"/>
              </a:rPr>
              <a:t>Modules Completed</a:t>
            </a:r>
          </a:p>
        </p:txBody>
      </p:sp>
      <p:sp>
        <p:nvSpPr>
          <p:cNvPr name="TextBox 5" id="5"/>
          <p:cNvSpPr txBox="true"/>
          <p:nvPr/>
        </p:nvSpPr>
        <p:spPr>
          <a:xfrm rot="0">
            <a:off x="7244534" y="9129922"/>
            <a:ext cx="3402854"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DEPARTMENT OF CSE</a:t>
            </a:r>
          </a:p>
        </p:txBody>
      </p:sp>
      <p:sp>
        <p:nvSpPr>
          <p:cNvPr name="TextBox 6" id="6"/>
          <p:cNvSpPr txBox="true"/>
          <p:nvPr/>
        </p:nvSpPr>
        <p:spPr>
          <a:xfrm rot="0">
            <a:off x="15815310" y="9129922"/>
            <a:ext cx="155448"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9</a:t>
            </a:r>
          </a:p>
        </p:txBody>
      </p:sp>
      <p:sp>
        <p:nvSpPr>
          <p:cNvPr name="TextBox 7" id="7"/>
          <p:cNvSpPr txBox="true"/>
          <p:nvPr/>
        </p:nvSpPr>
        <p:spPr>
          <a:xfrm rot="0">
            <a:off x="1539874" y="9045369"/>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
        <p:nvSpPr>
          <p:cNvPr name="TextBox 8" id="8"/>
          <p:cNvSpPr txBox="true"/>
          <p:nvPr/>
        </p:nvSpPr>
        <p:spPr>
          <a:xfrm rot="0">
            <a:off x="1847259" y="2993898"/>
            <a:ext cx="13968051" cy="5863590"/>
          </a:xfrm>
          <a:prstGeom prst="rect">
            <a:avLst/>
          </a:prstGeom>
        </p:spPr>
        <p:txBody>
          <a:bodyPr anchor="t" rtlCol="false" tIns="0" lIns="0" bIns="0" rIns="0">
            <a:spAutoFit/>
          </a:bodyPr>
          <a:lstStyle/>
          <a:p>
            <a:pPr algn="just">
              <a:lnSpc>
                <a:spcPts val="3360"/>
              </a:lnSpc>
              <a:spcBef>
                <a:spcPct val="0"/>
              </a:spcBef>
            </a:pPr>
            <a:r>
              <a:rPr lang="en-US" sz="2400">
                <a:solidFill>
                  <a:srgbClr val="000000"/>
                </a:solidFill>
                <a:latin typeface="Times New Roman"/>
                <a:ea typeface="Times New Roman"/>
                <a:cs typeface="Times New Roman"/>
                <a:sym typeface="Times New Roman"/>
              </a:rPr>
              <a:t>1. Data Collection Module ( COMPLETED)</a:t>
            </a:r>
          </a:p>
          <a:p>
            <a:pPr algn="just">
              <a:lnSpc>
                <a:spcPts val="3360"/>
              </a:lnSpc>
              <a:spcBef>
                <a:spcPct val="0"/>
              </a:spcBef>
            </a:pPr>
            <a:r>
              <a:rPr lang="en-US" sz="2400">
                <a:solidFill>
                  <a:srgbClr val="000000"/>
                </a:solidFill>
                <a:latin typeface="Times New Roman"/>
                <a:ea typeface="Times New Roman"/>
                <a:cs typeface="Times New Roman"/>
                <a:sym typeface="Times New Roman"/>
              </a:rPr>
              <a:t> Healthcare datasets are collected from multiple hospitals for secure analytics.</a:t>
            </a:r>
          </a:p>
          <a:p>
            <a:pPr algn="just">
              <a:lnSpc>
                <a:spcPts val="3360"/>
              </a:lnSpc>
              <a:spcBef>
                <a:spcPct val="0"/>
              </a:spcBef>
            </a:pPr>
            <a:r>
              <a:rPr lang="en-US" sz="2400">
                <a:solidFill>
                  <a:srgbClr val="000000"/>
                </a:solidFill>
                <a:latin typeface="Times New Roman"/>
                <a:ea typeface="Times New Roman"/>
                <a:cs typeface="Times New Roman"/>
                <a:sym typeface="Times New Roman"/>
              </a:rPr>
              <a:t>2. Denoising Autoencoder Module ( COMPLETED)</a:t>
            </a:r>
          </a:p>
          <a:p>
            <a:pPr algn="just">
              <a:lnSpc>
                <a:spcPts val="3360"/>
              </a:lnSpc>
              <a:spcBef>
                <a:spcPct val="0"/>
              </a:spcBef>
            </a:pPr>
            <a:r>
              <a:rPr lang="en-US" sz="2400">
                <a:solidFill>
                  <a:srgbClr val="000000"/>
                </a:solidFill>
                <a:latin typeface="Times New Roman"/>
                <a:ea typeface="Times New Roman"/>
                <a:cs typeface="Times New Roman"/>
                <a:sym typeface="Times New Roman"/>
              </a:rPr>
              <a:t> Each hospital processes its dataset using a Denoising Autoencoder to remove noise and generate a secure encoded representation.</a:t>
            </a:r>
          </a:p>
          <a:p>
            <a:pPr algn="just">
              <a:lnSpc>
                <a:spcPts val="3360"/>
              </a:lnSpc>
              <a:spcBef>
                <a:spcPct val="0"/>
              </a:spcBef>
            </a:pPr>
            <a:r>
              <a:rPr lang="en-US" sz="2400">
                <a:solidFill>
                  <a:srgbClr val="000000"/>
                </a:solidFill>
                <a:latin typeface="Times New Roman"/>
                <a:ea typeface="Times New Roman"/>
                <a:cs typeface="Times New Roman"/>
                <a:sym typeface="Times New Roman"/>
              </a:rPr>
              <a:t>3. Encryption Module ( COMPLETED) </a:t>
            </a:r>
          </a:p>
          <a:p>
            <a:pPr algn="just">
              <a:lnSpc>
                <a:spcPts val="3360"/>
              </a:lnSpc>
              <a:spcBef>
                <a:spcPct val="0"/>
              </a:spcBef>
            </a:pPr>
            <a:r>
              <a:rPr lang="en-US" sz="2400">
                <a:solidFill>
                  <a:srgbClr val="000000"/>
                </a:solidFill>
                <a:latin typeface="Times New Roman"/>
                <a:ea typeface="Times New Roman"/>
                <a:cs typeface="Times New Roman"/>
                <a:sym typeface="Times New Roman"/>
              </a:rPr>
              <a:t> The encoded data is encrypted to protect structural information before transmission.</a:t>
            </a:r>
          </a:p>
          <a:p>
            <a:pPr algn="just">
              <a:lnSpc>
                <a:spcPts val="3360"/>
              </a:lnSpc>
              <a:spcBef>
                <a:spcPct val="0"/>
              </a:spcBef>
            </a:pPr>
            <a:r>
              <a:rPr lang="en-US" sz="2400">
                <a:solidFill>
                  <a:srgbClr val="000000"/>
                </a:solidFill>
                <a:latin typeface="Times New Roman"/>
                <a:ea typeface="Times New Roman"/>
                <a:cs typeface="Times New Roman"/>
                <a:sym typeface="Times New Roman"/>
              </a:rPr>
              <a:t>4. Secure Data Transmission Module</a:t>
            </a:r>
          </a:p>
          <a:p>
            <a:pPr algn="just">
              <a:lnSpc>
                <a:spcPts val="3360"/>
              </a:lnSpc>
              <a:spcBef>
                <a:spcPct val="0"/>
              </a:spcBef>
            </a:pPr>
            <a:r>
              <a:rPr lang="en-US" sz="2400">
                <a:solidFill>
                  <a:srgbClr val="000000"/>
                </a:solidFill>
                <a:latin typeface="Times New Roman"/>
                <a:ea typeface="Times New Roman"/>
                <a:cs typeface="Times New Roman"/>
                <a:sym typeface="Times New Roman"/>
              </a:rPr>
              <a:t> Encrypted datasets are securely transmitted from individual hospitals to the central server.</a:t>
            </a:r>
          </a:p>
          <a:p>
            <a:pPr algn="just">
              <a:lnSpc>
                <a:spcPts val="3360"/>
              </a:lnSpc>
              <a:spcBef>
                <a:spcPct val="0"/>
              </a:spcBef>
            </a:pPr>
            <a:r>
              <a:rPr lang="en-US" sz="2400">
                <a:solidFill>
                  <a:srgbClr val="000000"/>
                </a:solidFill>
                <a:latin typeface="Times New Roman"/>
                <a:ea typeface="Times New Roman"/>
                <a:cs typeface="Times New Roman"/>
                <a:sym typeface="Times New Roman"/>
              </a:rPr>
              <a:t>5. Adaptive Transform Level Fusion Module</a:t>
            </a:r>
          </a:p>
          <a:p>
            <a:pPr algn="just">
              <a:lnSpc>
                <a:spcPts val="3360"/>
              </a:lnSpc>
              <a:spcBef>
                <a:spcPct val="0"/>
              </a:spcBef>
            </a:pPr>
            <a:r>
              <a:rPr lang="en-US" sz="2400">
                <a:solidFill>
                  <a:srgbClr val="000000"/>
                </a:solidFill>
                <a:latin typeface="Times New Roman"/>
                <a:ea typeface="Times New Roman"/>
                <a:cs typeface="Times New Roman"/>
                <a:sym typeface="Times New Roman"/>
              </a:rPr>
              <a:t> Encrypted datasets from different hospitals are fused using adaptive transform level fusion techniques.</a:t>
            </a:r>
          </a:p>
          <a:p>
            <a:pPr algn="just">
              <a:lnSpc>
                <a:spcPts val="3360"/>
              </a:lnSpc>
              <a:spcBef>
                <a:spcPct val="0"/>
              </a:spcBef>
            </a:pPr>
            <a:r>
              <a:rPr lang="en-US" sz="2400">
                <a:solidFill>
                  <a:srgbClr val="000000"/>
                </a:solidFill>
                <a:latin typeface="Times New Roman"/>
                <a:ea typeface="Times New Roman"/>
                <a:cs typeface="Times New Roman"/>
                <a:sym typeface="Times New Roman"/>
              </a:rPr>
              <a:t>6. Decryption and Reconstruction Module</a:t>
            </a:r>
          </a:p>
          <a:p>
            <a:pPr algn="just">
              <a:lnSpc>
                <a:spcPts val="3360"/>
              </a:lnSpc>
              <a:spcBef>
                <a:spcPct val="0"/>
              </a:spcBef>
            </a:pPr>
            <a:r>
              <a:rPr lang="en-US" sz="2400">
                <a:solidFill>
                  <a:srgbClr val="000000"/>
                </a:solidFill>
                <a:latin typeface="Times New Roman"/>
                <a:ea typeface="Times New Roman"/>
                <a:cs typeface="Times New Roman"/>
                <a:sym typeface="Times New Roman"/>
              </a:rPr>
              <a:t> The encrypted dataset is decrypted using reverse operations, and the Autoencoder decoder reconstructs the data for further analytics.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1101" y="2536983"/>
            <a:ext cx="16074466" cy="6664021"/>
          </a:xfrm>
          <a:custGeom>
            <a:avLst/>
            <a:gdLst/>
            <a:ahLst/>
            <a:cxnLst/>
            <a:rect r="r" b="b" t="t" l="l"/>
            <a:pathLst>
              <a:path h="6664021" w="16074466">
                <a:moveTo>
                  <a:pt x="0" y="0"/>
                </a:moveTo>
                <a:lnTo>
                  <a:pt x="16074466" y="0"/>
                </a:lnTo>
                <a:lnTo>
                  <a:pt x="16074466" y="6664021"/>
                </a:lnTo>
                <a:lnTo>
                  <a:pt x="0" y="6664021"/>
                </a:lnTo>
                <a:lnTo>
                  <a:pt x="0" y="0"/>
                </a:lnTo>
                <a:close/>
              </a:path>
            </a:pathLst>
          </a:custGeom>
          <a:blipFill>
            <a:blip r:embed="rId2">
              <a:extLst>
                <a:ext uri="{96DAC541-7B7A-43D3-8B79-37D633B846F1}">
                  <asvg:svgBlip xmlns:asvg="http://schemas.microsoft.com/office/drawing/2016/SVG/main" r:embed="rId3"/>
                </a:ext>
              </a:extLst>
            </a:blip>
            <a:stretch>
              <a:fillRect l="-1236" t="-27999" r="0" b="-1582"/>
            </a:stretch>
          </a:blipFill>
        </p:spPr>
      </p:sp>
      <p:grpSp>
        <p:nvGrpSpPr>
          <p:cNvPr name="Group 3" id="3"/>
          <p:cNvGrpSpPr/>
          <p:nvPr/>
        </p:nvGrpSpPr>
        <p:grpSpPr>
          <a:xfrm rot="0">
            <a:off x="15241086" y="639261"/>
            <a:ext cx="2015623" cy="1659160"/>
            <a:chOff x="0" y="0"/>
            <a:chExt cx="2687498" cy="2212213"/>
          </a:xfrm>
        </p:grpSpPr>
        <p:sp>
          <p:nvSpPr>
            <p:cNvPr name="Freeform 4" id="4"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4"/>
              <a:stretch>
                <a:fillRect l="0" t="-5911" r="-1" b="-5806"/>
              </a:stretch>
            </a:blipFill>
          </p:spPr>
        </p:sp>
      </p:grpSp>
      <p:sp>
        <p:nvSpPr>
          <p:cNvPr name="TextBox 5" id="5"/>
          <p:cNvSpPr txBox="true"/>
          <p:nvPr/>
        </p:nvSpPr>
        <p:spPr>
          <a:xfrm rot="0">
            <a:off x="1491405" y="1306582"/>
            <a:ext cx="5334686" cy="722986"/>
          </a:xfrm>
          <a:prstGeom prst="rect">
            <a:avLst/>
          </a:prstGeom>
        </p:spPr>
        <p:txBody>
          <a:bodyPr anchor="t" rtlCol="false" tIns="0" lIns="0" bIns="0" rIns="0">
            <a:spAutoFit/>
          </a:bodyPr>
          <a:lstStyle/>
          <a:p>
            <a:pPr algn="l">
              <a:lnSpc>
                <a:spcPts val="5880"/>
              </a:lnSpc>
            </a:pPr>
            <a:r>
              <a:rPr lang="en-US" b="true" sz="4200">
                <a:solidFill>
                  <a:srgbClr val="000000"/>
                </a:solidFill>
                <a:latin typeface="Times New Roman Bold"/>
                <a:ea typeface="Times New Roman Bold"/>
                <a:cs typeface="Times New Roman Bold"/>
                <a:sym typeface="Times New Roman Bold"/>
              </a:rPr>
              <a:t>Work Plan &amp; Timeline</a:t>
            </a:r>
          </a:p>
        </p:txBody>
      </p:sp>
      <p:sp>
        <p:nvSpPr>
          <p:cNvPr name="TextBox 6" id="6"/>
          <p:cNvSpPr txBox="true"/>
          <p:nvPr/>
        </p:nvSpPr>
        <p:spPr>
          <a:xfrm rot="0">
            <a:off x="1378744" y="2733885"/>
            <a:ext cx="971550" cy="534105"/>
          </a:xfrm>
          <a:prstGeom prst="rect">
            <a:avLst/>
          </a:prstGeom>
        </p:spPr>
        <p:txBody>
          <a:bodyPr anchor="t" rtlCol="false" tIns="0" lIns="0" bIns="0" rIns="0">
            <a:spAutoFit/>
          </a:bodyPr>
          <a:lstStyle/>
          <a:p>
            <a:pPr algn="l">
              <a:lnSpc>
                <a:spcPts val="4200"/>
              </a:lnSpc>
            </a:pPr>
            <a:r>
              <a:rPr lang="en-US" b="true" sz="3000">
                <a:solidFill>
                  <a:srgbClr val="FFFFFF"/>
                </a:solidFill>
                <a:latin typeface="Times New Roman Bold"/>
                <a:ea typeface="Times New Roman Bold"/>
                <a:cs typeface="Times New Roman Bold"/>
                <a:sym typeface="Times New Roman Bold"/>
              </a:rPr>
              <a:t>Phase</a:t>
            </a:r>
          </a:p>
        </p:txBody>
      </p:sp>
      <p:sp>
        <p:nvSpPr>
          <p:cNvPr name="TextBox 7" id="7"/>
          <p:cNvSpPr txBox="true"/>
          <p:nvPr/>
        </p:nvSpPr>
        <p:spPr>
          <a:xfrm rot="0">
            <a:off x="3191256" y="2733885"/>
            <a:ext cx="1553908" cy="534105"/>
          </a:xfrm>
          <a:prstGeom prst="rect">
            <a:avLst/>
          </a:prstGeom>
        </p:spPr>
        <p:txBody>
          <a:bodyPr anchor="t" rtlCol="false" tIns="0" lIns="0" bIns="0" rIns="0">
            <a:spAutoFit/>
          </a:bodyPr>
          <a:lstStyle/>
          <a:p>
            <a:pPr algn="l">
              <a:lnSpc>
                <a:spcPts val="4200"/>
              </a:lnSpc>
            </a:pPr>
            <a:r>
              <a:rPr lang="en-US" b="true" sz="3000">
                <a:solidFill>
                  <a:srgbClr val="FFFFFF"/>
                </a:solidFill>
                <a:latin typeface="Times New Roman Bold"/>
                <a:ea typeface="Times New Roman Bold"/>
                <a:cs typeface="Times New Roman Bold"/>
                <a:sym typeface="Times New Roman Bold"/>
              </a:rPr>
              <a:t>Activities</a:t>
            </a:r>
          </a:p>
        </p:txBody>
      </p:sp>
      <p:sp>
        <p:nvSpPr>
          <p:cNvPr name="TextBox 8" id="8"/>
          <p:cNvSpPr txBox="true"/>
          <p:nvPr/>
        </p:nvSpPr>
        <p:spPr>
          <a:xfrm rot="0">
            <a:off x="5885069" y="2733885"/>
            <a:ext cx="1511408" cy="534105"/>
          </a:xfrm>
          <a:prstGeom prst="rect">
            <a:avLst/>
          </a:prstGeom>
        </p:spPr>
        <p:txBody>
          <a:bodyPr anchor="t" rtlCol="false" tIns="0" lIns="0" bIns="0" rIns="0">
            <a:spAutoFit/>
          </a:bodyPr>
          <a:lstStyle/>
          <a:p>
            <a:pPr algn="l">
              <a:lnSpc>
                <a:spcPts val="4200"/>
              </a:lnSpc>
            </a:pPr>
            <a:r>
              <a:rPr lang="en-US" b="true" sz="3000">
                <a:solidFill>
                  <a:srgbClr val="FFFFFF"/>
                </a:solidFill>
                <a:latin typeface="Times New Roman Bold"/>
                <a:ea typeface="Times New Roman Bold"/>
                <a:cs typeface="Times New Roman Bold"/>
                <a:sym typeface="Times New Roman Bold"/>
              </a:rPr>
              <a:t>Duration</a:t>
            </a:r>
          </a:p>
        </p:txBody>
      </p:sp>
      <p:sp>
        <p:nvSpPr>
          <p:cNvPr name="TextBox 9" id="9"/>
          <p:cNvSpPr txBox="true"/>
          <p:nvPr/>
        </p:nvSpPr>
        <p:spPr>
          <a:xfrm rot="0">
            <a:off x="10076031" y="2733885"/>
            <a:ext cx="971550" cy="534105"/>
          </a:xfrm>
          <a:prstGeom prst="rect">
            <a:avLst/>
          </a:prstGeom>
        </p:spPr>
        <p:txBody>
          <a:bodyPr anchor="t" rtlCol="false" tIns="0" lIns="0" bIns="0" rIns="0">
            <a:spAutoFit/>
          </a:bodyPr>
          <a:lstStyle/>
          <a:p>
            <a:pPr algn="l">
              <a:lnSpc>
                <a:spcPts val="4200"/>
              </a:lnSpc>
            </a:pPr>
            <a:r>
              <a:rPr lang="en-US" b="true" sz="3000">
                <a:solidFill>
                  <a:srgbClr val="FFFFFF"/>
                </a:solidFill>
                <a:latin typeface="Times New Roman Bold"/>
                <a:ea typeface="Times New Roman Bold"/>
                <a:cs typeface="Times New Roman Bold"/>
                <a:sym typeface="Times New Roman Bold"/>
              </a:rPr>
              <a:t>Phase</a:t>
            </a:r>
          </a:p>
        </p:txBody>
      </p:sp>
      <p:sp>
        <p:nvSpPr>
          <p:cNvPr name="TextBox 10" id="10"/>
          <p:cNvSpPr txBox="true"/>
          <p:nvPr/>
        </p:nvSpPr>
        <p:spPr>
          <a:xfrm rot="0">
            <a:off x="14108001" y="2733885"/>
            <a:ext cx="1553908" cy="534105"/>
          </a:xfrm>
          <a:prstGeom prst="rect">
            <a:avLst/>
          </a:prstGeom>
        </p:spPr>
        <p:txBody>
          <a:bodyPr anchor="t" rtlCol="false" tIns="0" lIns="0" bIns="0" rIns="0">
            <a:spAutoFit/>
          </a:bodyPr>
          <a:lstStyle/>
          <a:p>
            <a:pPr algn="l">
              <a:lnSpc>
                <a:spcPts val="4200"/>
              </a:lnSpc>
            </a:pPr>
            <a:r>
              <a:rPr lang="en-US" b="true" sz="3000">
                <a:solidFill>
                  <a:srgbClr val="FFFFFF"/>
                </a:solidFill>
                <a:latin typeface="Times New Roman Bold"/>
                <a:ea typeface="Times New Roman Bold"/>
                <a:cs typeface="Times New Roman Bold"/>
                <a:sym typeface="Times New Roman Bold"/>
              </a:rPr>
              <a:t>Activities</a:t>
            </a:r>
          </a:p>
        </p:txBody>
      </p:sp>
      <p:sp>
        <p:nvSpPr>
          <p:cNvPr name="TextBox 11" id="11"/>
          <p:cNvSpPr txBox="true"/>
          <p:nvPr/>
        </p:nvSpPr>
        <p:spPr>
          <a:xfrm rot="0">
            <a:off x="1042988" y="4135622"/>
            <a:ext cx="1198121" cy="53410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Phase 1</a:t>
            </a:r>
          </a:p>
        </p:txBody>
      </p:sp>
      <p:sp>
        <p:nvSpPr>
          <p:cNvPr name="TextBox 12" id="12"/>
          <p:cNvSpPr txBox="true"/>
          <p:nvPr/>
        </p:nvSpPr>
        <p:spPr>
          <a:xfrm rot="0">
            <a:off x="1042988" y="6779295"/>
            <a:ext cx="1198121" cy="53410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Phase 3</a:t>
            </a:r>
          </a:p>
        </p:txBody>
      </p:sp>
      <p:sp>
        <p:nvSpPr>
          <p:cNvPr name="TextBox 13" id="13"/>
          <p:cNvSpPr txBox="true"/>
          <p:nvPr/>
        </p:nvSpPr>
        <p:spPr>
          <a:xfrm rot="0">
            <a:off x="1042988" y="8089421"/>
            <a:ext cx="1198121" cy="53410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Phase 4</a:t>
            </a:r>
          </a:p>
        </p:txBody>
      </p:sp>
      <p:sp>
        <p:nvSpPr>
          <p:cNvPr name="TextBox 14" id="14"/>
          <p:cNvSpPr txBox="true"/>
          <p:nvPr/>
        </p:nvSpPr>
        <p:spPr>
          <a:xfrm rot="0">
            <a:off x="2690898" y="7961490"/>
            <a:ext cx="1764669" cy="1046551"/>
          </a:xfrm>
          <a:prstGeom prst="rect">
            <a:avLst/>
          </a:prstGeom>
        </p:spPr>
        <p:txBody>
          <a:bodyPr anchor="t" rtlCol="false" tIns="0" lIns="0" bIns="0" rIns="0">
            <a:spAutoFit/>
          </a:bodyPr>
          <a:lstStyle/>
          <a:p>
            <a:pPr algn="l">
              <a:lnSpc>
                <a:spcPts val="2710"/>
              </a:lnSpc>
            </a:pPr>
            <a:r>
              <a:rPr lang="en-US" sz="2125">
                <a:solidFill>
                  <a:srgbClr val="000000"/>
                </a:solidFill>
                <a:latin typeface="Times New Roman"/>
                <a:ea typeface="Times New Roman"/>
                <a:cs typeface="Times New Roman"/>
                <a:sym typeface="Times New Roman"/>
              </a:rPr>
              <a:t>Decryption,</a:t>
            </a:r>
          </a:p>
          <a:p>
            <a:pPr algn="l">
              <a:lnSpc>
                <a:spcPts val="2710"/>
              </a:lnSpc>
            </a:pPr>
            <a:r>
              <a:rPr lang="en-US" sz="2125">
                <a:solidFill>
                  <a:srgbClr val="000000"/>
                </a:solidFill>
                <a:latin typeface="Times New Roman"/>
                <a:ea typeface="Times New Roman"/>
                <a:cs typeface="Times New Roman"/>
                <a:sym typeface="Times New Roman"/>
              </a:rPr>
              <a:t>Evaluation ,and documentation </a:t>
            </a:r>
          </a:p>
        </p:txBody>
      </p:sp>
      <p:sp>
        <p:nvSpPr>
          <p:cNvPr name="TextBox 15" id="15"/>
          <p:cNvSpPr txBox="true"/>
          <p:nvPr/>
        </p:nvSpPr>
        <p:spPr>
          <a:xfrm rot="0">
            <a:off x="6007103" y="5610273"/>
            <a:ext cx="1262634" cy="53410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4 weeks</a:t>
            </a:r>
          </a:p>
        </p:txBody>
      </p:sp>
      <p:sp>
        <p:nvSpPr>
          <p:cNvPr name="TextBox 16" id="16"/>
          <p:cNvSpPr txBox="true"/>
          <p:nvPr/>
        </p:nvSpPr>
        <p:spPr>
          <a:xfrm rot="0">
            <a:off x="6007103" y="6769770"/>
            <a:ext cx="1262634" cy="53410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4 weeks</a:t>
            </a:r>
          </a:p>
        </p:txBody>
      </p:sp>
      <p:sp>
        <p:nvSpPr>
          <p:cNvPr name="TextBox 17" id="17"/>
          <p:cNvSpPr txBox="true"/>
          <p:nvPr/>
        </p:nvSpPr>
        <p:spPr>
          <a:xfrm rot="0">
            <a:off x="6007103" y="8089421"/>
            <a:ext cx="1262634" cy="53410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1 weeks</a:t>
            </a:r>
          </a:p>
        </p:txBody>
      </p:sp>
      <p:sp>
        <p:nvSpPr>
          <p:cNvPr name="TextBox 18" id="18"/>
          <p:cNvSpPr txBox="true"/>
          <p:nvPr/>
        </p:nvSpPr>
        <p:spPr>
          <a:xfrm rot="0">
            <a:off x="9965007" y="4135622"/>
            <a:ext cx="1174651" cy="54292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Phase 1</a:t>
            </a:r>
          </a:p>
        </p:txBody>
      </p:sp>
      <p:sp>
        <p:nvSpPr>
          <p:cNvPr name="TextBox 19" id="19"/>
          <p:cNvSpPr txBox="true"/>
          <p:nvPr/>
        </p:nvSpPr>
        <p:spPr>
          <a:xfrm rot="0">
            <a:off x="9965007" y="5610273"/>
            <a:ext cx="1198121" cy="53410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Phase 2</a:t>
            </a:r>
          </a:p>
        </p:txBody>
      </p:sp>
      <p:sp>
        <p:nvSpPr>
          <p:cNvPr name="TextBox 20" id="20"/>
          <p:cNvSpPr txBox="true"/>
          <p:nvPr/>
        </p:nvSpPr>
        <p:spPr>
          <a:xfrm rot="0">
            <a:off x="9965007" y="8089421"/>
            <a:ext cx="1198121" cy="534105"/>
          </a:xfrm>
          <a:prstGeom prst="rect">
            <a:avLst/>
          </a:prstGeom>
        </p:spPr>
        <p:txBody>
          <a:bodyPr anchor="t" rtlCol="false" tIns="0" lIns="0" bIns="0" rIns="0">
            <a:spAutoFit/>
          </a:bodyPr>
          <a:lstStyle/>
          <a:p>
            <a:pPr algn="l">
              <a:lnSpc>
                <a:spcPts val="4200"/>
              </a:lnSpc>
            </a:pPr>
            <a:r>
              <a:rPr lang="en-US" sz="3000">
                <a:solidFill>
                  <a:srgbClr val="000000"/>
                </a:solidFill>
                <a:latin typeface="Times New Roman"/>
                <a:ea typeface="Times New Roman"/>
                <a:cs typeface="Times New Roman"/>
                <a:sym typeface="Times New Roman"/>
              </a:rPr>
              <a:t>Phase 4</a:t>
            </a:r>
          </a:p>
        </p:txBody>
      </p:sp>
      <p:sp>
        <p:nvSpPr>
          <p:cNvPr name="TextBox 21" id="21"/>
          <p:cNvSpPr txBox="true"/>
          <p:nvPr/>
        </p:nvSpPr>
        <p:spPr>
          <a:xfrm rot="0">
            <a:off x="2690898" y="3638934"/>
            <a:ext cx="1975798" cy="2001793"/>
          </a:xfrm>
          <a:prstGeom prst="rect">
            <a:avLst/>
          </a:prstGeom>
        </p:spPr>
        <p:txBody>
          <a:bodyPr anchor="t" rtlCol="false" tIns="0" lIns="0" bIns="0" rIns="0">
            <a:spAutoFit/>
          </a:bodyPr>
          <a:lstStyle/>
          <a:p>
            <a:pPr algn="l">
              <a:lnSpc>
                <a:spcPts val="2895"/>
              </a:lnSpc>
            </a:pPr>
            <a:r>
              <a:rPr lang="en-US" sz="2300">
                <a:solidFill>
                  <a:srgbClr val="000000"/>
                </a:solidFill>
                <a:latin typeface="Times New Roman"/>
                <a:ea typeface="Times New Roman"/>
                <a:cs typeface="Times New Roman"/>
                <a:sym typeface="Times New Roman"/>
              </a:rPr>
              <a:t>Problem Definition &amp; Literature Survey</a:t>
            </a:r>
          </a:p>
          <a:p>
            <a:pPr algn="l">
              <a:lnSpc>
                <a:spcPts val="5750"/>
              </a:lnSpc>
            </a:pPr>
          </a:p>
        </p:txBody>
      </p:sp>
      <p:sp>
        <p:nvSpPr>
          <p:cNvPr name="TextBox 22" id="22"/>
          <p:cNvSpPr txBox="true"/>
          <p:nvPr/>
        </p:nvSpPr>
        <p:spPr>
          <a:xfrm rot="0">
            <a:off x="2594200" y="6515175"/>
            <a:ext cx="1975798" cy="1208430"/>
          </a:xfrm>
          <a:prstGeom prst="rect">
            <a:avLst/>
          </a:prstGeom>
        </p:spPr>
        <p:txBody>
          <a:bodyPr anchor="t" rtlCol="false" tIns="0" lIns="0" bIns="0" rIns="0">
            <a:spAutoFit/>
          </a:bodyPr>
          <a:lstStyle/>
          <a:p>
            <a:pPr algn="l">
              <a:lnSpc>
                <a:spcPts val="3218"/>
              </a:lnSpc>
            </a:pPr>
            <a:r>
              <a:rPr lang="en-US" sz="2299">
                <a:solidFill>
                  <a:srgbClr val="000000"/>
                </a:solidFill>
                <a:latin typeface="Times New Roman"/>
                <a:ea typeface="Times New Roman"/>
                <a:cs typeface="Times New Roman"/>
                <a:sym typeface="Times New Roman"/>
              </a:rPr>
              <a:t>Encyption And Data Fusion Implementation </a:t>
            </a:r>
          </a:p>
        </p:txBody>
      </p:sp>
      <p:sp>
        <p:nvSpPr>
          <p:cNvPr name="TextBox 23" id="23"/>
          <p:cNvSpPr txBox="true"/>
          <p:nvPr/>
        </p:nvSpPr>
        <p:spPr>
          <a:xfrm rot="0">
            <a:off x="1042988" y="5619950"/>
            <a:ext cx="1197235" cy="524361"/>
          </a:xfrm>
          <a:prstGeom prst="rect">
            <a:avLst/>
          </a:prstGeom>
        </p:spPr>
        <p:txBody>
          <a:bodyPr anchor="t" rtlCol="false" tIns="0" lIns="0" bIns="0" rIns="0">
            <a:spAutoFit/>
          </a:bodyPr>
          <a:lstStyle/>
          <a:p>
            <a:pPr algn="l">
              <a:lnSpc>
                <a:spcPts val="4197"/>
              </a:lnSpc>
            </a:pPr>
            <a:r>
              <a:rPr lang="en-US" sz="2998">
                <a:solidFill>
                  <a:srgbClr val="000000"/>
                </a:solidFill>
                <a:latin typeface="Times New Roman"/>
                <a:ea typeface="Times New Roman"/>
                <a:cs typeface="Times New Roman"/>
                <a:sym typeface="Times New Roman"/>
              </a:rPr>
              <a:t>Phase 2</a:t>
            </a:r>
          </a:p>
        </p:txBody>
      </p:sp>
      <p:sp>
        <p:nvSpPr>
          <p:cNvPr name="TextBox 24" id="24"/>
          <p:cNvSpPr txBox="true"/>
          <p:nvPr/>
        </p:nvSpPr>
        <p:spPr>
          <a:xfrm rot="0">
            <a:off x="6007551" y="4145309"/>
            <a:ext cx="1261691" cy="524361"/>
          </a:xfrm>
          <a:prstGeom prst="rect">
            <a:avLst/>
          </a:prstGeom>
        </p:spPr>
        <p:txBody>
          <a:bodyPr anchor="t" rtlCol="false" tIns="0" lIns="0" bIns="0" rIns="0">
            <a:spAutoFit/>
          </a:bodyPr>
          <a:lstStyle/>
          <a:p>
            <a:pPr algn="l">
              <a:lnSpc>
                <a:spcPts val="4197"/>
              </a:lnSpc>
            </a:pPr>
            <a:r>
              <a:rPr lang="en-US" sz="2998">
                <a:solidFill>
                  <a:srgbClr val="000000"/>
                </a:solidFill>
                <a:latin typeface="Times New Roman"/>
                <a:ea typeface="Times New Roman"/>
                <a:cs typeface="Times New Roman"/>
                <a:sym typeface="Times New Roman"/>
              </a:rPr>
              <a:t>2 weeks</a:t>
            </a:r>
          </a:p>
        </p:txBody>
      </p:sp>
      <p:sp>
        <p:nvSpPr>
          <p:cNvPr name="TextBox 25" id="25"/>
          <p:cNvSpPr txBox="true"/>
          <p:nvPr/>
        </p:nvSpPr>
        <p:spPr>
          <a:xfrm rot="0">
            <a:off x="9965455" y="6788982"/>
            <a:ext cx="1197235" cy="524361"/>
          </a:xfrm>
          <a:prstGeom prst="rect">
            <a:avLst/>
          </a:prstGeom>
        </p:spPr>
        <p:txBody>
          <a:bodyPr anchor="t" rtlCol="false" tIns="0" lIns="0" bIns="0" rIns="0">
            <a:spAutoFit/>
          </a:bodyPr>
          <a:lstStyle/>
          <a:p>
            <a:pPr algn="l">
              <a:lnSpc>
                <a:spcPts val="4197"/>
              </a:lnSpc>
            </a:pPr>
            <a:r>
              <a:rPr lang="en-US" sz="2998">
                <a:solidFill>
                  <a:srgbClr val="000000"/>
                </a:solidFill>
                <a:latin typeface="Times New Roman"/>
                <a:ea typeface="Times New Roman"/>
                <a:cs typeface="Times New Roman"/>
                <a:sym typeface="Times New Roman"/>
              </a:rPr>
              <a:t>Phase 3</a:t>
            </a:r>
          </a:p>
        </p:txBody>
      </p:sp>
      <p:sp>
        <p:nvSpPr>
          <p:cNvPr name="TextBox 26" id="26"/>
          <p:cNvSpPr txBox="true"/>
          <p:nvPr/>
        </p:nvSpPr>
        <p:spPr>
          <a:xfrm rot="0">
            <a:off x="6718335" y="9415167"/>
            <a:ext cx="3402854"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DEPARTMENT OF CSE</a:t>
            </a:r>
          </a:p>
        </p:txBody>
      </p:sp>
      <p:sp>
        <p:nvSpPr>
          <p:cNvPr name="TextBox 27" id="27"/>
          <p:cNvSpPr txBox="true"/>
          <p:nvPr/>
        </p:nvSpPr>
        <p:spPr>
          <a:xfrm rot="0">
            <a:off x="15314800" y="9410252"/>
            <a:ext cx="155448"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8</a:t>
            </a:r>
          </a:p>
        </p:txBody>
      </p:sp>
      <p:sp>
        <p:nvSpPr>
          <p:cNvPr name="TextBox 28" id="28"/>
          <p:cNvSpPr txBox="true"/>
          <p:nvPr/>
        </p:nvSpPr>
        <p:spPr>
          <a:xfrm rot="0">
            <a:off x="1042988" y="9363366"/>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
        <p:nvSpPr>
          <p:cNvPr name="TextBox 29" id="29"/>
          <p:cNvSpPr txBox="true"/>
          <p:nvPr/>
        </p:nvSpPr>
        <p:spPr>
          <a:xfrm rot="0">
            <a:off x="2594200" y="5369792"/>
            <a:ext cx="1975798" cy="1053251"/>
          </a:xfrm>
          <a:prstGeom prst="rect">
            <a:avLst/>
          </a:prstGeom>
        </p:spPr>
        <p:txBody>
          <a:bodyPr anchor="t" rtlCol="false" tIns="0" lIns="0" bIns="0" rIns="0">
            <a:spAutoFit/>
          </a:bodyPr>
          <a:lstStyle/>
          <a:p>
            <a:pPr algn="l">
              <a:lnSpc>
                <a:spcPts val="2846"/>
              </a:lnSpc>
              <a:spcBef>
                <a:spcPct val="0"/>
              </a:spcBef>
            </a:pPr>
            <a:r>
              <a:rPr lang="en-US" sz="2033">
                <a:solidFill>
                  <a:srgbClr val="000000"/>
                </a:solidFill>
                <a:latin typeface="Times New Roman"/>
                <a:ea typeface="Times New Roman"/>
                <a:cs typeface="Times New Roman"/>
                <a:sym typeface="Times New Roman"/>
              </a:rPr>
              <a:t>Datasett collection and model developmen</a:t>
            </a:r>
            <a:r>
              <a:rPr lang="en-US" b="true" sz="2033">
                <a:solidFill>
                  <a:srgbClr val="000000"/>
                </a:solidFill>
                <a:latin typeface="Times New Roman Bold"/>
                <a:ea typeface="Times New Roman Bold"/>
                <a:cs typeface="Times New Roman Bold"/>
                <a:sym typeface="Times New Roman Bold"/>
              </a:rPr>
              <a:t>t</a:t>
            </a:r>
          </a:p>
        </p:txBody>
      </p:sp>
      <p:sp>
        <p:nvSpPr>
          <p:cNvPr name="TextBox 30" id="30"/>
          <p:cNvSpPr txBox="true"/>
          <p:nvPr/>
        </p:nvSpPr>
        <p:spPr>
          <a:xfrm rot="0">
            <a:off x="13257081" y="3580719"/>
            <a:ext cx="3255750" cy="1672590"/>
          </a:xfrm>
          <a:prstGeom prst="rect">
            <a:avLst/>
          </a:prstGeom>
        </p:spPr>
        <p:txBody>
          <a:bodyPr anchor="t" rtlCol="false" tIns="0" lIns="0" bIns="0" rIns="0">
            <a:spAutoFit/>
          </a:bodyPr>
          <a:lstStyle/>
          <a:p>
            <a:pPr algn="just">
              <a:lnSpc>
                <a:spcPts val="3359"/>
              </a:lnSpc>
              <a:spcBef>
                <a:spcPct val="0"/>
              </a:spcBef>
            </a:pPr>
            <a:r>
              <a:rPr lang="en-US" sz="2400">
                <a:solidFill>
                  <a:srgbClr val="000000"/>
                </a:solidFill>
                <a:latin typeface="Times New Roman"/>
                <a:ea typeface="Times New Roman"/>
                <a:cs typeface="Times New Roman"/>
                <a:sym typeface="Times New Roman"/>
              </a:rPr>
              <a:t>Identifying privacy iss</a:t>
            </a:r>
            <a:r>
              <a:rPr lang="en-US" sz="2400">
                <a:solidFill>
                  <a:srgbClr val="000000"/>
                </a:solidFill>
                <a:latin typeface="Times New Roman"/>
                <a:ea typeface="Times New Roman"/>
                <a:cs typeface="Times New Roman"/>
                <a:sym typeface="Times New Roman"/>
              </a:rPr>
              <a:t>ues in healthcare data sharing and studying existing research works.</a:t>
            </a:r>
          </a:p>
        </p:txBody>
      </p:sp>
      <p:sp>
        <p:nvSpPr>
          <p:cNvPr name="TextBox 31" id="31"/>
          <p:cNvSpPr txBox="true"/>
          <p:nvPr/>
        </p:nvSpPr>
        <p:spPr>
          <a:xfrm rot="0">
            <a:off x="13257081" y="5389338"/>
            <a:ext cx="3748486" cy="1004636"/>
          </a:xfrm>
          <a:prstGeom prst="rect">
            <a:avLst/>
          </a:prstGeom>
        </p:spPr>
        <p:txBody>
          <a:bodyPr anchor="t" rtlCol="false" tIns="0" lIns="0" bIns="0" rIns="0">
            <a:spAutoFit/>
          </a:bodyPr>
          <a:lstStyle/>
          <a:p>
            <a:pPr algn="just">
              <a:lnSpc>
                <a:spcPts val="2661"/>
              </a:lnSpc>
              <a:spcBef>
                <a:spcPct val="0"/>
              </a:spcBef>
            </a:pPr>
            <a:r>
              <a:rPr lang="en-US" sz="1900">
                <a:solidFill>
                  <a:srgbClr val="000000"/>
                </a:solidFill>
                <a:latin typeface="Times New Roman"/>
                <a:ea typeface="Times New Roman"/>
                <a:cs typeface="Times New Roman"/>
                <a:sym typeface="Times New Roman"/>
              </a:rPr>
              <a:t>Collecting healthcare datasets and implementing the Denoising Autoencoder model for data encoding.</a:t>
            </a:r>
          </a:p>
        </p:txBody>
      </p:sp>
      <p:sp>
        <p:nvSpPr>
          <p:cNvPr name="TextBox 32" id="32"/>
          <p:cNvSpPr txBox="true"/>
          <p:nvPr/>
        </p:nvSpPr>
        <p:spPr>
          <a:xfrm rot="0">
            <a:off x="13257081" y="6456203"/>
            <a:ext cx="3748486" cy="1345422"/>
          </a:xfrm>
          <a:prstGeom prst="rect">
            <a:avLst/>
          </a:prstGeom>
        </p:spPr>
        <p:txBody>
          <a:bodyPr anchor="t" rtlCol="false" tIns="0" lIns="0" bIns="0" rIns="0">
            <a:spAutoFit/>
          </a:bodyPr>
          <a:lstStyle/>
          <a:p>
            <a:pPr algn="just">
              <a:lnSpc>
                <a:spcPts val="2699"/>
              </a:lnSpc>
              <a:spcBef>
                <a:spcPct val="0"/>
              </a:spcBef>
            </a:pPr>
            <a:r>
              <a:rPr lang="en-US" sz="1928">
                <a:solidFill>
                  <a:srgbClr val="000000"/>
                </a:solidFill>
                <a:latin typeface="Times New Roman"/>
                <a:ea typeface="Times New Roman"/>
                <a:cs typeface="Times New Roman"/>
                <a:sym typeface="Times New Roman"/>
              </a:rPr>
              <a:t>Applying encryption techniques and performing Adaptive Transform Level Fusion to combine encrypted datasets securely.</a:t>
            </a:r>
          </a:p>
        </p:txBody>
      </p:sp>
      <p:sp>
        <p:nvSpPr>
          <p:cNvPr name="TextBox 33" id="33"/>
          <p:cNvSpPr txBox="true"/>
          <p:nvPr/>
        </p:nvSpPr>
        <p:spPr>
          <a:xfrm rot="0">
            <a:off x="13257081" y="7754001"/>
            <a:ext cx="3651579" cy="1414443"/>
          </a:xfrm>
          <a:prstGeom prst="rect">
            <a:avLst/>
          </a:prstGeom>
        </p:spPr>
        <p:txBody>
          <a:bodyPr anchor="t" rtlCol="false" tIns="0" lIns="0" bIns="0" rIns="0">
            <a:spAutoFit/>
          </a:bodyPr>
          <a:lstStyle/>
          <a:p>
            <a:pPr algn="just">
              <a:lnSpc>
                <a:spcPts val="2842"/>
              </a:lnSpc>
              <a:spcBef>
                <a:spcPct val="0"/>
              </a:spcBef>
            </a:pPr>
            <a:r>
              <a:rPr lang="en-US" sz="2030">
                <a:solidFill>
                  <a:srgbClr val="000000"/>
                </a:solidFill>
                <a:latin typeface="Times New Roman"/>
                <a:ea typeface="Times New Roman"/>
                <a:cs typeface="Times New Roman"/>
                <a:sym typeface="Times New Roman"/>
              </a:rPr>
              <a:t>Rec</a:t>
            </a:r>
            <a:r>
              <a:rPr lang="en-US" sz="2030">
                <a:solidFill>
                  <a:srgbClr val="000000"/>
                </a:solidFill>
                <a:latin typeface="Times New Roman"/>
                <a:ea typeface="Times New Roman"/>
                <a:cs typeface="Times New Roman"/>
                <a:sym typeface="Times New Roman"/>
              </a:rPr>
              <a:t>onstructing the dataset using the decoder, evaluating security performance, and preparing the final report and presentation.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807503" y="1127808"/>
            <a:ext cx="2015614" cy="1659160"/>
            <a:chOff x="0" y="0"/>
            <a:chExt cx="2687485"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Freeform 4" id="4"/>
          <p:cNvSpPr/>
          <p:nvPr/>
        </p:nvSpPr>
        <p:spPr>
          <a:xfrm flipH="false" flipV="false" rot="0">
            <a:off x="1788938" y="3175830"/>
            <a:ext cx="14578181" cy="5363565"/>
          </a:xfrm>
          <a:custGeom>
            <a:avLst/>
            <a:gdLst/>
            <a:ahLst/>
            <a:cxnLst/>
            <a:rect r="r" b="b" t="t" l="l"/>
            <a:pathLst>
              <a:path h="5363565" w="14578181">
                <a:moveTo>
                  <a:pt x="0" y="0"/>
                </a:moveTo>
                <a:lnTo>
                  <a:pt x="14578180" y="0"/>
                </a:lnTo>
                <a:lnTo>
                  <a:pt x="14578180" y="5363566"/>
                </a:lnTo>
                <a:lnTo>
                  <a:pt x="0" y="5363566"/>
                </a:lnTo>
                <a:lnTo>
                  <a:pt x="0" y="0"/>
                </a:lnTo>
                <a:close/>
              </a:path>
            </a:pathLst>
          </a:custGeom>
          <a:blipFill>
            <a:blip r:embed="rId3"/>
            <a:stretch>
              <a:fillRect l="0" t="-41596" r="0" b="-39603"/>
            </a:stretch>
          </a:blipFill>
        </p:spPr>
      </p:sp>
      <p:sp>
        <p:nvSpPr>
          <p:cNvPr name="TextBox 5" id="5"/>
          <p:cNvSpPr txBox="true"/>
          <p:nvPr/>
        </p:nvSpPr>
        <p:spPr>
          <a:xfrm rot="0">
            <a:off x="1788938" y="1862137"/>
            <a:ext cx="1660128" cy="731520"/>
          </a:xfrm>
          <a:prstGeom prst="rect">
            <a:avLst/>
          </a:prstGeom>
        </p:spPr>
        <p:txBody>
          <a:bodyPr anchor="t" rtlCol="false" tIns="0" lIns="0" bIns="0" rIns="0">
            <a:spAutoFit/>
          </a:bodyPr>
          <a:lstStyle/>
          <a:p>
            <a:pPr algn="l">
              <a:lnSpc>
                <a:spcPts val="5880"/>
              </a:lnSpc>
            </a:pPr>
            <a:r>
              <a:rPr lang="en-US" b="true" sz="4200">
                <a:solidFill>
                  <a:srgbClr val="000000"/>
                </a:solidFill>
                <a:latin typeface="Times New Roman Bold"/>
                <a:ea typeface="Times New Roman Bold"/>
                <a:cs typeface="Times New Roman Bold"/>
                <a:sym typeface="Times New Roman Bold"/>
              </a:rPr>
              <a:t>Output</a:t>
            </a:r>
          </a:p>
        </p:txBody>
      </p:sp>
      <p:sp>
        <p:nvSpPr>
          <p:cNvPr name="TextBox 6" id="6"/>
          <p:cNvSpPr txBox="true"/>
          <p:nvPr/>
        </p:nvSpPr>
        <p:spPr>
          <a:xfrm rot="0">
            <a:off x="7244534" y="9129922"/>
            <a:ext cx="3402854"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DEPARTMENT OF CSE</a:t>
            </a:r>
          </a:p>
        </p:txBody>
      </p:sp>
      <p:sp>
        <p:nvSpPr>
          <p:cNvPr name="TextBox 7" id="7"/>
          <p:cNvSpPr txBox="true"/>
          <p:nvPr/>
        </p:nvSpPr>
        <p:spPr>
          <a:xfrm rot="0">
            <a:off x="15815310" y="9129922"/>
            <a:ext cx="304800" cy="415290"/>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10</a:t>
            </a:r>
          </a:p>
        </p:txBody>
      </p:sp>
      <p:sp>
        <p:nvSpPr>
          <p:cNvPr name="TextBox 8" id="8"/>
          <p:cNvSpPr txBox="true"/>
          <p:nvPr/>
        </p:nvSpPr>
        <p:spPr>
          <a:xfrm rot="0">
            <a:off x="1539874" y="9045369"/>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968051" y="1957388"/>
            <a:ext cx="2015614" cy="1659160"/>
            <a:chOff x="0" y="0"/>
            <a:chExt cx="2687485"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TextBox 4" id="4"/>
          <p:cNvSpPr txBox="true"/>
          <p:nvPr/>
        </p:nvSpPr>
        <p:spPr>
          <a:xfrm rot="0">
            <a:off x="7244534" y="9129922"/>
            <a:ext cx="3402854"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DEPARTMENT OF CSE</a:t>
            </a:r>
          </a:p>
        </p:txBody>
      </p:sp>
      <p:sp>
        <p:nvSpPr>
          <p:cNvPr name="TextBox 5" id="5"/>
          <p:cNvSpPr txBox="true"/>
          <p:nvPr/>
        </p:nvSpPr>
        <p:spPr>
          <a:xfrm rot="0">
            <a:off x="15815310" y="9129922"/>
            <a:ext cx="304800" cy="415290"/>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11</a:t>
            </a:r>
          </a:p>
        </p:txBody>
      </p:sp>
      <p:sp>
        <p:nvSpPr>
          <p:cNvPr name="TextBox 6" id="6"/>
          <p:cNvSpPr txBox="true"/>
          <p:nvPr/>
        </p:nvSpPr>
        <p:spPr>
          <a:xfrm rot="0">
            <a:off x="1539874" y="9045369"/>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
        <p:nvSpPr>
          <p:cNvPr name="TextBox 7" id="7"/>
          <p:cNvSpPr txBox="true"/>
          <p:nvPr/>
        </p:nvSpPr>
        <p:spPr>
          <a:xfrm rot="0">
            <a:off x="1539874" y="3203162"/>
            <a:ext cx="2549327" cy="731520"/>
          </a:xfrm>
          <a:prstGeom prst="rect">
            <a:avLst/>
          </a:prstGeom>
        </p:spPr>
        <p:txBody>
          <a:bodyPr anchor="t" rtlCol="false" tIns="0" lIns="0" bIns="0" rIns="0">
            <a:spAutoFit/>
          </a:bodyPr>
          <a:lstStyle/>
          <a:p>
            <a:pPr algn="ctr">
              <a:lnSpc>
                <a:spcPts val="5880"/>
              </a:lnSpc>
              <a:spcBef>
                <a:spcPct val="0"/>
              </a:spcBef>
            </a:pPr>
            <a:r>
              <a:rPr lang="en-US" b="true" sz="4200">
                <a:solidFill>
                  <a:srgbClr val="000000"/>
                </a:solidFill>
                <a:latin typeface="Times New Roman Bold"/>
                <a:ea typeface="Times New Roman Bold"/>
                <a:cs typeface="Times New Roman Bold"/>
                <a:sym typeface="Times New Roman Bold"/>
              </a:rPr>
              <a:t>C</a:t>
            </a:r>
            <a:r>
              <a:rPr lang="en-US" b="true" sz="4200">
                <a:solidFill>
                  <a:srgbClr val="000000"/>
                </a:solidFill>
                <a:latin typeface="Times New Roman Bold"/>
                <a:ea typeface="Times New Roman Bold"/>
                <a:cs typeface="Times New Roman Bold"/>
                <a:sym typeface="Times New Roman Bold"/>
              </a:rPr>
              <a:t>onclusion</a:t>
            </a:r>
          </a:p>
        </p:txBody>
      </p:sp>
      <p:sp>
        <p:nvSpPr>
          <p:cNvPr name="TextBox 8" id="8"/>
          <p:cNvSpPr txBox="true"/>
          <p:nvPr/>
        </p:nvSpPr>
        <p:spPr>
          <a:xfrm rot="0">
            <a:off x="1566627" y="4264233"/>
            <a:ext cx="15154747" cy="2622575"/>
          </a:xfrm>
          <a:prstGeom prst="rect">
            <a:avLst/>
          </a:prstGeom>
        </p:spPr>
        <p:txBody>
          <a:bodyPr anchor="t" rtlCol="false" tIns="0" lIns="0" bIns="0" rIns="0">
            <a:spAutoFit/>
          </a:bodyPr>
          <a:lstStyle/>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This project works </a:t>
            </a:r>
            <a:r>
              <a:rPr lang="en-US" sz="2499">
                <a:solidFill>
                  <a:srgbClr val="000000"/>
                </a:solidFill>
                <a:latin typeface="Times New Roman"/>
                <a:ea typeface="Times New Roman"/>
                <a:cs typeface="Times New Roman"/>
                <a:sym typeface="Times New Roman"/>
              </a:rPr>
              <a:t>on secure dataset processing to improve the quality and reliability of data.</a:t>
            </a:r>
          </a:p>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The Denoising Autoencoder helps remove noise from the dataset and produces a cleaner output.</a:t>
            </a:r>
          </a:p>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The Adaptive Transform-Level Fusion method enhances important information and improves the final result.</a:t>
            </a:r>
          </a:p>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The proposed system helps maintain data security and integrity while processing the dataset.</a:t>
            </a:r>
          </a:p>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Overall, the system produces a better quality and more secure output dataset, which can be useful for further analysis and applications.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968051" y="1957388"/>
            <a:ext cx="2015614" cy="1659160"/>
            <a:chOff x="0" y="0"/>
            <a:chExt cx="2687485"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TextBox 4" id="4"/>
          <p:cNvSpPr txBox="true"/>
          <p:nvPr/>
        </p:nvSpPr>
        <p:spPr>
          <a:xfrm rot="0">
            <a:off x="7244534" y="9129922"/>
            <a:ext cx="3402854"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DEPARTMENT OF CSE</a:t>
            </a:r>
          </a:p>
        </p:txBody>
      </p:sp>
      <p:sp>
        <p:nvSpPr>
          <p:cNvPr name="TextBox 5" id="5"/>
          <p:cNvSpPr txBox="true"/>
          <p:nvPr/>
        </p:nvSpPr>
        <p:spPr>
          <a:xfrm rot="0">
            <a:off x="15815310" y="9129922"/>
            <a:ext cx="304800" cy="415290"/>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12</a:t>
            </a:r>
          </a:p>
        </p:txBody>
      </p:sp>
      <p:sp>
        <p:nvSpPr>
          <p:cNvPr name="TextBox 6" id="6"/>
          <p:cNvSpPr txBox="true"/>
          <p:nvPr/>
        </p:nvSpPr>
        <p:spPr>
          <a:xfrm rot="0">
            <a:off x="1539874" y="9045369"/>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
        <p:nvSpPr>
          <p:cNvPr name="TextBox 7" id="7"/>
          <p:cNvSpPr txBox="true"/>
          <p:nvPr/>
        </p:nvSpPr>
        <p:spPr>
          <a:xfrm rot="0">
            <a:off x="1655843" y="4382144"/>
            <a:ext cx="14580236" cy="3498875"/>
          </a:xfrm>
          <a:prstGeom prst="rect">
            <a:avLst/>
          </a:prstGeom>
        </p:spPr>
        <p:txBody>
          <a:bodyPr anchor="t" rtlCol="false" tIns="0" lIns="0" bIns="0" rIns="0">
            <a:spAutoFit/>
          </a:bodyPr>
          <a:lstStyle/>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The proposed system can be extended to work with larger and more diverse datasets to improve performance and reliability.</a:t>
            </a:r>
          </a:p>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Advanced deep learning models can be integrated to further enhance noise removal and feature extraction.</a:t>
            </a:r>
          </a:p>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The system can be improved to support real-time data processing for faster and more efficient results.</a:t>
            </a:r>
          </a:p>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Additional security techniques and encryption methods can be incorporated to provide stronger protection for sensitive datasets.</a:t>
            </a:r>
          </a:p>
          <a:p>
            <a:pPr algn="l" marL="539536" indent="-269768" lvl="1">
              <a:lnSpc>
                <a:spcPts val="3498"/>
              </a:lnSpc>
              <a:buFont typeface="Arial"/>
              <a:buChar char="•"/>
            </a:pPr>
            <a:r>
              <a:rPr lang="en-US" sz="2499">
                <a:solidFill>
                  <a:srgbClr val="000000"/>
                </a:solidFill>
                <a:latin typeface="Times New Roman"/>
                <a:ea typeface="Times New Roman"/>
                <a:cs typeface="Times New Roman"/>
                <a:sym typeface="Times New Roman"/>
              </a:rPr>
              <a:t> Future research can focus on optimizing computational efficiency to reduce processing time and resource usage.</a:t>
            </a:r>
          </a:p>
        </p:txBody>
      </p:sp>
      <p:sp>
        <p:nvSpPr>
          <p:cNvPr name="TextBox 8" id="8"/>
          <p:cNvSpPr txBox="true"/>
          <p:nvPr/>
        </p:nvSpPr>
        <p:spPr>
          <a:xfrm rot="0">
            <a:off x="1539874" y="3521297"/>
            <a:ext cx="2988469" cy="731520"/>
          </a:xfrm>
          <a:prstGeom prst="rect">
            <a:avLst/>
          </a:prstGeom>
        </p:spPr>
        <p:txBody>
          <a:bodyPr anchor="t" rtlCol="false" tIns="0" lIns="0" bIns="0" rIns="0">
            <a:spAutoFit/>
          </a:bodyPr>
          <a:lstStyle/>
          <a:p>
            <a:pPr algn="ctr">
              <a:lnSpc>
                <a:spcPts val="5880"/>
              </a:lnSpc>
              <a:spcBef>
                <a:spcPct val="0"/>
              </a:spcBef>
            </a:pPr>
            <a:r>
              <a:rPr lang="en-US" b="true" sz="4200">
                <a:solidFill>
                  <a:srgbClr val="000000"/>
                </a:solidFill>
                <a:latin typeface="Times New Roman Bold"/>
                <a:ea typeface="Times New Roman Bold"/>
                <a:cs typeface="Times New Roman Bold"/>
                <a:sym typeface="Times New Roman Bold"/>
              </a:rPr>
              <a:t>Future Work</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241086" y="1028700"/>
            <a:ext cx="2015623" cy="1659160"/>
            <a:chOff x="0" y="0"/>
            <a:chExt cx="2687498" cy="2212213"/>
          </a:xfrm>
        </p:grpSpPr>
        <p:sp>
          <p:nvSpPr>
            <p:cNvPr name="Freeform 3" id="3" descr="ENGINEERING COLLEGE -LOGO"/>
            <p:cNvSpPr/>
            <p:nvPr/>
          </p:nvSpPr>
          <p:spPr>
            <a:xfrm flipH="false" flipV="false" rot="0">
              <a:off x="0" y="0"/>
              <a:ext cx="2687447" cy="2212213"/>
            </a:xfrm>
            <a:custGeom>
              <a:avLst/>
              <a:gdLst/>
              <a:ahLst/>
              <a:cxnLst/>
              <a:rect r="r" b="b" t="t" l="l"/>
              <a:pathLst>
                <a:path h="2212213" w="2687447">
                  <a:moveTo>
                    <a:pt x="0" y="0"/>
                  </a:moveTo>
                  <a:lnTo>
                    <a:pt x="2687447" y="0"/>
                  </a:lnTo>
                  <a:lnTo>
                    <a:pt x="2687447" y="2212213"/>
                  </a:lnTo>
                  <a:lnTo>
                    <a:pt x="0" y="2212213"/>
                  </a:lnTo>
                  <a:lnTo>
                    <a:pt x="0" y="0"/>
                  </a:lnTo>
                  <a:close/>
                </a:path>
              </a:pathLst>
            </a:custGeom>
            <a:blipFill>
              <a:blip r:embed="rId2"/>
              <a:stretch>
                <a:fillRect l="0" t="-5911" r="-1" b="-5806"/>
              </a:stretch>
            </a:blipFill>
          </p:spPr>
        </p:sp>
      </p:grpSp>
      <p:sp>
        <p:nvSpPr>
          <p:cNvPr name="TextBox 4" id="4"/>
          <p:cNvSpPr txBox="true"/>
          <p:nvPr/>
        </p:nvSpPr>
        <p:spPr>
          <a:xfrm rot="0">
            <a:off x="7749283" y="8842448"/>
            <a:ext cx="3402854" cy="415852"/>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DEPARTMENT OF CSE</a:t>
            </a:r>
          </a:p>
        </p:txBody>
      </p:sp>
      <p:sp>
        <p:nvSpPr>
          <p:cNvPr name="TextBox 5" id="5"/>
          <p:cNvSpPr txBox="true"/>
          <p:nvPr/>
        </p:nvSpPr>
        <p:spPr>
          <a:xfrm rot="0">
            <a:off x="15771762" y="8809696"/>
            <a:ext cx="304800" cy="415290"/>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13</a:t>
            </a:r>
          </a:p>
        </p:txBody>
      </p:sp>
      <p:sp>
        <p:nvSpPr>
          <p:cNvPr name="TextBox 6" id="6"/>
          <p:cNvSpPr txBox="true"/>
          <p:nvPr/>
        </p:nvSpPr>
        <p:spPr>
          <a:xfrm rot="0">
            <a:off x="4601249" y="4079238"/>
            <a:ext cx="8588883" cy="1871348"/>
          </a:xfrm>
          <a:prstGeom prst="rect">
            <a:avLst/>
          </a:prstGeom>
        </p:spPr>
        <p:txBody>
          <a:bodyPr anchor="t" rtlCol="false" tIns="0" lIns="0" bIns="0" rIns="0">
            <a:spAutoFit/>
          </a:bodyPr>
          <a:lstStyle/>
          <a:p>
            <a:pPr algn="l">
              <a:lnSpc>
                <a:spcPts val="15119"/>
              </a:lnSpc>
            </a:pPr>
            <a:r>
              <a:rPr lang="en-US" b="true" sz="10800">
                <a:solidFill>
                  <a:srgbClr val="000000"/>
                </a:solidFill>
                <a:latin typeface="Times New Roman Bold"/>
                <a:ea typeface="Times New Roman Bold"/>
                <a:cs typeface="Times New Roman Bold"/>
                <a:sym typeface="Times New Roman Bold"/>
              </a:rPr>
              <a:t>THANK YOU</a:t>
            </a:r>
          </a:p>
        </p:txBody>
      </p:sp>
      <p:sp>
        <p:nvSpPr>
          <p:cNvPr name="TextBox 7" id="7"/>
          <p:cNvSpPr txBox="true"/>
          <p:nvPr/>
        </p:nvSpPr>
        <p:spPr>
          <a:xfrm rot="0">
            <a:off x="1470919" y="8790646"/>
            <a:ext cx="1658739" cy="500405"/>
          </a:xfrm>
          <a:prstGeom prst="rect">
            <a:avLst/>
          </a:prstGeom>
        </p:spPr>
        <p:txBody>
          <a:bodyPr anchor="t" rtlCol="false" tIns="0" lIns="0" bIns="0" rIns="0">
            <a:spAutoFit/>
          </a:bodyPr>
          <a:lstStyle/>
          <a:p>
            <a:pPr algn="l">
              <a:lnSpc>
                <a:spcPts val="3918"/>
              </a:lnSpc>
            </a:pPr>
            <a:r>
              <a:rPr lang="en-US" b="true" sz="2798">
                <a:solidFill>
                  <a:srgbClr val="000000"/>
                </a:solidFill>
                <a:latin typeface="Times New Roman Bold"/>
                <a:ea typeface="Times New Roman Bold"/>
                <a:cs typeface="Times New Roman Bold"/>
                <a:sym typeface="Times New Roman Bold"/>
              </a:rPr>
              <a:t>10</a:t>
            </a:r>
            <a:r>
              <a:rPr lang="en-US" b="true" sz="2798">
                <a:solidFill>
                  <a:srgbClr val="000000"/>
                </a:solidFill>
                <a:latin typeface="Times New Roman Bold"/>
                <a:ea typeface="Times New Roman Bold"/>
                <a:cs typeface="Times New Roman Bold"/>
                <a:sym typeface="Times New Roman Bold"/>
              </a:rPr>
              <a:t>-03-2026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DAHDefObnDE</dc:identifier>
  <dcterms:modified xsi:type="dcterms:W3CDTF">2011-08-01T06:04:30Z</dcterms:modified>
  <cp:revision>1</cp:revision>
  <dc:title>Sathya Jyothi M.pptx.pptx.pdf</dc:title>
</cp:coreProperties>
</file>